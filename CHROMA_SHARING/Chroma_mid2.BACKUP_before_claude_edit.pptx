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334" r:id="rId2"/>
    <p:sldId id="304" r:id="rId3"/>
    <p:sldId id="551" r:id="rId4"/>
    <p:sldId id="556" r:id="rId5"/>
    <p:sldId id="555" r:id="rId6"/>
    <p:sldId id="557" r:id="rId7"/>
    <p:sldId id="558" r:id="rId8"/>
    <p:sldId id="559" r:id="rId9"/>
    <p:sldId id="309" r:id="rId10"/>
    <p:sldId id="310" r:id="rId11"/>
    <p:sldId id="54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8321" autoAdjust="0"/>
  </p:normalViewPr>
  <p:slideViewPr>
    <p:cSldViewPr snapToGrid="0">
      <p:cViewPr varScale="1">
        <p:scale>
          <a:sx n="65" d="100"/>
          <a:sy n="65" d="100"/>
        </p:scale>
        <p:origin x="5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AECB5-1689-4621-9629-88C14724BEFF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28B07-B2EA-45BD-80B6-F21C75B72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8900" y="744538"/>
            <a:ext cx="661987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317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ACCE652-BBC7-40D2-8A1E-F69FEAF3DC17}" type="slidenum">
              <a:rPr lang="zh-TW" altLang="en-US" smtClean="0">
                <a:ea typeface="新細明體" pitchFamily="18" charset="-120"/>
              </a:rPr>
              <a:pPr/>
              <a:t>1</a:t>
            </a:fld>
            <a:endParaRPr lang="zh-TW" altLang="en-US" dirty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5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80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8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10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54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7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99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where things stand at the two-week mark. Thin-film multilayer solver: built, validated, done. Patterned 2D-layer work: underway, honestly scoped as the higher-risk stretch goal.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28B07-B2EA-45BD-80B6-F21C75B722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1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66E2-782F-24ED-B540-2C78B458E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48380-771C-27D3-8413-433D6D050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AC2C0-FA77-4019-A1F2-0E5A84BB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F789-0F31-4506-F369-3BBE5E83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18FC-DB81-8D2A-94F8-F98DB51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200F-9419-C42C-5A42-8AC17BE7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3DBA-98EB-C322-836A-3442BBB23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D0F9-2BD5-C65D-DF82-F9F3E745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91BC-3D9F-FA04-4C45-0C9CB625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8CAB-4CEB-74EC-AF05-44BA1E09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5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2395-7AA5-B280-8289-6391DF76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5CDC4-DC11-97DE-BBA7-0A1907ED8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50DD6-B811-1A0E-1095-260AFBC6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41222-C9AE-D703-D3DA-9EDF49E0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52DAF-3D33-EBC7-6C98-E68F914B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3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7DBE-AC48-DE36-CA03-E86834D1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2AC4-9A9A-4758-8EAF-5A379EFD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C2F54-1F1C-4522-1971-C41290842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FC931-D472-C803-8EAC-DDCCC013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5780B-7199-C5E0-05DE-B0F6A261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2145C-C2E9-BC23-6EF3-46694623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6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433C-BEA5-9873-6636-2F955701A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CE4E3-3AB2-CCFC-B2C3-6BF483B81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AA24B-89FC-A421-FFE6-1CD493E2B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C570D-974D-410D-37D8-F79FB01F1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1F0D1-6511-5956-A386-A923E356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E3ECE-6AFA-A1FC-884C-2F6115EA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F9D54-FE24-92EF-7AA3-7C44F0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CEF50-4FD4-5275-E7F4-85F8522A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5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EC3C-534F-7923-2CFD-75FCDFDE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E3845-6B8A-2CF5-6CB5-90B9A856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26B4C-239D-6598-1A44-12EB0A46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438BA-9AFC-3451-8E35-AEBABFF4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74E6C-DBC2-EF58-7430-05B505F9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B7D6F-8486-5880-F3EC-C4A68185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90607-4181-C0CF-C914-0C79B9DF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2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E95E-D508-4E78-366D-1EB1A29F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E394D-308E-F08E-F53A-07343A9A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ED852-9093-28EC-79F7-EB2410AA2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7720D-D039-3B4C-D044-873D2646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3606B-05A2-ABD6-E825-5EB7D1F4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90413-8480-51F1-B64D-6EEB6CDC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4FB5-AEF0-3AEB-C560-D4BCD728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6F466-FB3B-E737-D499-3E41A0A40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A39E9-682C-0A09-A6F9-B0D50A929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C765F-2922-8ECC-9972-167CF124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FF5DB-7710-5465-F0F4-57CB9ABA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61326-6CBC-4A61-EC72-BABFEABC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1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02E0-2197-A965-61F5-3DE2D3BE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83ABE-3984-1501-1E61-071B128BF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3241C-6530-E7E4-C41F-24F33873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607D2-D1FC-75E8-577B-C8D60C7F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A4362-2B03-98AD-92B7-1548FE31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2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52E6E-BE3B-3FC8-BDAD-AD77A981B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B048E-ECC2-9378-1CCF-18FB16D14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8972-4E20-E890-32FF-EFEE970B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8FCA1-DA0A-A76A-60EE-EE6C1D2F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3D365-7006-FDE0-76FE-818E79E3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BC5CD-DEC8-CECE-32A1-60B25297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7F3E-8C55-4A53-B238-A6A989631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8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0E3C-1DDA-4430-E77C-95F0A07F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7F3E-8C55-4A53-B238-A6A989631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8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24"/>
            <a:ext cx="12192000" cy="6857554"/>
          </a:xfrm>
          <a:prstGeom prst="rect">
            <a:avLst/>
          </a:prstGeom>
          <a:solidFill>
            <a:srgbClr val="0A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標題 1"/>
          <p:cNvSpPr txBox="1">
            <a:spLocks/>
          </p:cNvSpPr>
          <p:nvPr userDrawn="1"/>
        </p:nvSpPr>
        <p:spPr>
          <a:xfrm>
            <a:off x="0" y="2436430"/>
            <a:ext cx="12192000" cy="1985142"/>
          </a:xfrm>
          <a:prstGeom prst="rect">
            <a:avLst/>
          </a:prstGeom>
        </p:spPr>
        <p:txBody>
          <a:bodyPr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0" u="none" kern="1200" baseline="0">
                <a:solidFill>
                  <a:schemeClr val="tx2"/>
                </a:solidFill>
                <a:uFill>
                  <a:solidFill>
                    <a:srgbClr val="19C3FF"/>
                  </a:solidFill>
                </a:uFill>
                <a:latin typeface="Lato" panose="020F0502020204030203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4800" dirty="0">
                <a:solidFill>
                  <a:schemeClr val="bg1"/>
                </a:solidFill>
                <a:latin typeface="+mn-lt"/>
              </a:rPr>
              <a:t>Headline</a:t>
            </a:r>
            <a:r>
              <a:rPr kumimoji="0" lang="en-US" altLang="zh-TW" sz="3733" dirty="0">
                <a:solidFill>
                  <a:schemeClr val="bg1"/>
                </a:solidFill>
                <a:latin typeface="+mn-lt"/>
              </a:rPr>
              <a:t> </a:t>
            </a:r>
            <a:br>
              <a:rPr kumimoji="0" lang="en-US" altLang="zh-TW" sz="3733" dirty="0">
                <a:solidFill>
                  <a:schemeClr val="bg1"/>
                </a:solidFill>
                <a:latin typeface="+mn-lt"/>
              </a:rPr>
            </a:br>
            <a:br>
              <a:rPr kumimoji="0" lang="en-US" altLang="zh-TW" sz="3200" dirty="0">
                <a:solidFill>
                  <a:schemeClr val="bg1"/>
                </a:solidFill>
                <a:latin typeface="+mj-lt"/>
              </a:rPr>
            </a:br>
            <a:r>
              <a:rPr kumimoji="0" lang="en-US" altLang="zh-TW" sz="2700" dirty="0">
                <a:solidFill>
                  <a:schemeClr val="bg1"/>
                </a:solidFill>
                <a:latin typeface="+mn-lt"/>
              </a:rPr>
              <a:t>Sub-headline</a:t>
            </a:r>
            <a:endParaRPr kumimoji="0" lang="zh-TW" altLang="en-US" sz="27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0886126"/>
      </p:ext>
    </p:extLst>
  </p:cSld>
  <p:clrMapOvr>
    <a:masterClrMapping/>
  </p:clrMapOvr>
  <p:transition>
    <p:pull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323113" y="0"/>
            <a:ext cx="9142758" cy="525518"/>
          </a:xfrm>
          <a:prstGeom prst="rect">
            <a:avLst/>
          </a:prstGeom>
        </p:spPr>
        <p:txBody>
          <a:bodyPr anchor="t"/>
          <a:lstStyle>
            <a:lvl1pPr algn="l">
              <a:defRPr sz="2100" b="0" u="none" baseline="0">
                <a:solidFill>
                  <a:srgbClr val="0A5596"/>
                </a:solidFill>
                <a:uFill>
                  <a:solidFill>
                    <a:srgbClr val="19C3FF"/>
                  </a:solidFill>
                </a:uFill>
                <a:latin typeface="+mj-ea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 dirty="0"/>
              <a:t>編輯頁面主標題</a:t>
            </a:r>
          </a:p>
        </p:txBody>
      </p:sp>
      <p:sp>
        <p:nvSpPr>
          <p:cNvPr id="1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354645" y="758698"/>
            <a:ext cx="10972800" cy="5394960"/>
          </a:xfrm>
          <a:prstGeom prst="rect">
            <a:avLst/>
          </a:prstGeom>
        </p:spPr>
        <p:txBody>
          <a:bodyPr/>
          <a:lstStyle>
            <a:lvl1pPr marL="171450" marR="0" indent="-17145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tx1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  <a:lvl2pPr>
              <a:buFontTx/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defRPr>
            </a:lvl2pPr>
            <a:lvl3pPr>
              <a:buFontTx/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defRPr>
            </a:lvl3pPr>
            <a:lvl4pPr>
              <a:buFontTx/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defRPr>
            </a:lvl4pPr>
            <a:lvl5pPr>
              <a:buFontTx/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編輯頁面副標題</a:t>
            </a:r>
            <a:endParaRPr lang="en-US" altLang="zh-TW" dirty="0"/>
          </a:p>
          <a:p>
            <a:pPr lvl="0"/>
            <a:r>
              <a:rPr lang="zh-TW" altLang="en-US" dirty="0"/>
              <a:t>副標 </a:t>
            </a:r>
            <a:r>
              <a:rPr lang="en-US" altLang="zh-TW" dirty="0"/>
              <a:t>1</a:t>
            </a:r>
          </a:p>
          <a:p>
            <a:pPr marL="171450" marR="0" lvl="0" indent="-17145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副標 </a:t>
            </a:r>
            <a:r>
              <a:rPr lang="en-US" altLang="zh-TW" dirty="0"/>
              <a:t>2</a:t>
            </a:r>
          </a:p>
          <a:p>
            <a:pPr marL="171450" marR="0" lvl="0" indent="-17145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副標 </a:t>
            </a:r>
            <a:r>
              <a:rPr lang="en-US" altLang="zh-TW" dirty="0"/>
              <a:t>3</a:t>
            </a:r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0200318"/>
      </p:ext>
    </p:extLst>
  </p:cSld>
  <p:clrMapOvr>
    <a:masterClrMapping/>
  </p:clrMapOvr>
  <p:transition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8A8E-3E86-6B7D-82AB-C240DEAD6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BED14-422B-4ED6-BDF5-30C246C1DC0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B7915-8552-28E9-54B8-0C7206500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7C39-9050-FEBA-D6B8-11D9B3165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8B557-FC59-467D-9E83-542B64E4D0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2C0AB-FF0B-1D0B-0990-F9F8B5CAE05C}"/>
              </a:ext>
            </a:extLst>
          </p:cNvPr>
          <p:cNvSpPr/>
          <p:nvPr userDrawn="1"/>
        </p:nvSpPr>
        <p:spPr>
          <a:xfrm>
            <a:off x="0" y="6308726"/>
            <a:ext cx="12192000" cy="54927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9B6E5C-4224-66D3-B254-1946EF0306B8}"/>
              </a:ext>
            </a:extLst>
          </p:cNvPr>
          <p:cNvSpPr/>
          <p:nvPr userDrawn="1"/>
        </p:nvSpPr>
        <p:spPr>
          <a:xfrm>
            <a:off x="0" y="636271"/>
            <a:ext cx="12192000" cy="6138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CADA2E0-0C34-61B6-3AE4-2958FDA4C602}"/>
              </a:ext>
            </a:extLst>
          </p:cNvPr>
          <p:cNvSpPr txBox="1">
            <a:spLocks/>
          </p:cNvSpPr>
          <p:nvPr userDrawn="1"/>
        </p:nvSpPr>
        <p:spPr>
          <a:xfrm>
            <a:off x="9448800" y="6339418"/>
            <a:ext cx="2743200" cy="5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C17F3E-8C55-4A53-B238-A6A98963182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C7413-8BCD-DE71-629B-85418A67572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901" y="54164"/>
            <a:ext cx="2095099" cy="47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5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40.png"/><Relationship Id="rId7" Type="http://schemas.openxmlformats.org/officeDocument/2006/relationships/image" Target="../media/image3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5" Type="http://schemas.openxmlformats.org/officeDocument/2006/relationships/image" Target="../media/image31.png"/><Relationship Id="rId4" Type="http://schemas.openxmlformats.org/officeDocument/2006/relationships/image" Target="../media/image3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" y="223"/>
            <a:ext cx="12191207" cy="685755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880748" y="2767280"/>
            <a:ext cx="6430502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One Layer Custom RCWA Solver Results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139978" y="5500135"/>
            <a:ext cx="3860359" cy="11541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Sougata Bhunia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/08/2026</a:t>
            </a:r>
          </a:p>
          <a:p>
            <a:pPr algn="ctr">
              <a:defRPr/>
            </a:pPr>
            <a:r>
              <a:rPr lang="en-US" altLang="zh-TW" sz="2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Chroma ATE Inc.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0236" y="1070804"/>
            <a:ext cx="3291527" cy="1143462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10BCCED-5B4E-4C9F-A31D-D74679C3DBE2}"/>
              </a:ext>
            </a:extLst>
          </p:cNvPr>
          <p:cNvSpPr txBox="1"/>
          <p:nvPr/>
        </p:nvSpPr>
        <p:spPr>
          <a:xfrm>
            <a:off x="10005934" y="6310434"/>
            <a:ext cx="190308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CONFIDENTIAL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DF99F-937E-61BF-D44D-44F2A667C050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5A7A1-CFC0-2B76-158B-EFA05B67A301}"/>
              </a:ext>
            </a:extLst>
          </p:cNvPr>
          <p:cNvSpPr txBox="1"/>
          <p:nvPr/>
        </p:nvSpPr>
        <p:spPr>
          <a:xfrm>
            <a:off x="219132" y="682927"/>
            <a:ext cx="6794143" cy="549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 and Planning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this Work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Background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our solver works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our Solver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14834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70CAD150-FFDA-7918-E990-69C75B6706CB}"/>
              </a:ext>
            </a:extLst>
          </p:cNvPr>
          <p:cNvGrpSpPr/>
          <p:nvPr/>
        </p:nvGrpSpPr>
        <p:grpSpPr>
          <a:xfrm>
            <a:off x="155276" y="0"/>
            <a:ext cx="9907215" cy="646331"/>
            <a:chOff x="155276" y="0"/>
            <a:chExt cx="9907215" cy="6463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BDDF99F-937E-61BF-D44D-44F2A667C050}"/>
                </a:ext>
              </a:extLst>
            </p:cNvPr>
            <p:cNvSpPr txBox="1"/>
            <p:nvPr/>
          </p:nvSpPr>
          <p:spPr>
            <a:xfrm>
              <a:off x="155276" y="0"/>
              <a:ext cx="4500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2-Month Plan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925972" y="37106"/>
              <a:ext cx="713651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5A63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sz="3200" b="1" dirty="0">
                  <a:solidFill>
                    <a:srgbClr val="5A63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Internship roadmap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626E1F-F5A2-B25F-ECE5-380D7C376789}"/>
              </a:ext>
            </a:extLst>
          </p:cNvPr>
          <p:cNvGrpSpPr/>
          <p:nvPr/>
        </p:nvGrpSpPr>
        <p:grpSpPr>
          <a:xfrm>
            <a:off x="256032" y="980655"/>
            <a:ext cx="2956483" cy="4705882"/>
            <a:chOff x="320040" y="1170432"/>
            <a:chExt cx="2956483" cy="4705882"/>
          </a:xfrm>
        </p:grpSpPr>
        <p:sp>
          <p:nvSpPr>
            <p:cNvPr id="4" name="TextBox 3"/>
            <p:cNvSpPr txBox="1"/>
            <p:nvPr/>
          </p:nvSpPr>
          <p:spPr>
            <a:xfrm>
              <a:off x="320040" y="1170432"/>
              <a:ext cx="2737027" cy="320040"/>
            </a:xfrm>
            <a:prstGeom prst="rect">
              <a:avLst/>
            </a:prstGeom>
            <a:noFill/>
          </p:spPr>
          <p:txBody>
            <a:bodyPr wrap="none" lIns="0" rIns="0">
              <a:noAutofit/>
            </a:bodyPr>
            <a:lstStyle/>
            <a:p>
              <a:pPr algn="ctr"/>
              <a:r>
                <a:rPr sz="2000" b="1" i="0">
                  <a:solidFill>
                    <a:srgbClr val="0B5E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WEEKS 1–2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0040" y="2026346"/>
              <a:ext cx="2737027" cy="3849968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3970">
              <a:solidFill>
                <a:srgbClr val="D8DC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21208" y="2080864"/>
              <a:ext cx="813816" cy="365760"/>
            </a:xfrm>
            <a:prstGeom prst="roundRect">
              <a:avLst>
                <a:gd name="adj" fmla="val 50000"/>
              </a:avLst>
            </a:prstGeom>
            <a:solidFill>
              <a:srgbClr val="E7F7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sz="1400" b="1" dirty="0">
                  <a:solidFill>
                    <a:srgbClr val="1AA34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DONE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352979" y="2062576"/>
              <a:ext cx="502920" cy="502920"/>
            </a:xfrm>
            <a:prstGeom prst="ellipse">
              <a:avLst/>
            </a:prstGeom>
            <a:solidFill>
              <a:srgbClr val="0B5E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1818" y="2610190"/>
              <a:ext cx="2473769" cy="868680"/>
            </a:xfrm>
            <a:prstGeom prst="rect">
              <a:avLst/>
            </a:prstGeom>
            <a:noFill/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b="1">
                  <a:solidFill>
                    <a:srgbClr val="1B1F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RCWA Foundations + Thin-Film Solver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1818" y="3347049"/>
              <a:ext cx="2473769" cy="2437825"/>
            </a:xfrm>
            <a:prstGeom prst="rect">
              <a:avLst/>
            </a:prstGeom>
            <a:noFill/>
          </p:spPr>
          <p:txBody>
            <a:bodyPr wrap="square" lIns="0" rIns="0">
              <a:noAutofit/>
            </a:bodyPr>
            <a:lstStyle/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Maxwell's </a:t>
              </a:r>
              <a:r>
                <a:rPr sz="1600" dirty="0" err="1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eqs</a:t>
              </a:r>
              <a:r>
                <a:rPr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TMM &amp; S-matrix theory from first principles</a:t>
              </a:r>
            </a:p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lang="en-US"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 </a:t>
              </a:r>
              <a:r>
                <a:rPr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thin-film solver built</a:t>
              </a:r>
            </a:p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Validated vs. commercial (KLA) solver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" y="5492266"/>
              <a:ext cx="2737027" cy="292608"/>
            </a:xfrm>
            <a:prstGeom prst="rect">
              <a:avLst/>
            </a:prstGeom>
            <a:noFill/>
          </p:spPr>
          <p:txBody>
            <a:bodyPr wrap="none" lIns="0" rIns="0">
              <a:noAutofit/>
            </a:bodyPr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Chevron 36"/>
            <p:cNvSpPr/>
            <p:nvPr/>
          </p:nvSpPr>
          <p:spPr>
            <a:xfrm>
              <a:off x="3075355" y="3924070"/>
              <a:ext cx="201168" cy="201168"/>
            </a:xfrm>
            <a:prstGeom prst="chevron">
              <a:avLst>
                <a:gd name="adj" fmla="val 55000"/>
              </a:avLst>
            </a:prstGeom>
            <a:solidFill>
              <a:srgbClr val="C3C9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477821-6B94-E4D1-2CA7-5DF3FC15A525}"/>
              </a:ext>
            </a:extLst>
          </p:cNvPr>
          <p:cNvGrpSpPr/>
          <p:nvPr/>
        </p:nvGrpSpPr>
        <p:grpSpPr>
          <a:xfrm>
            <a:off x="9207777" y="980655"/>
            <a:ext cx="2737027" cy="4705882"/>
            <a:chOff x="9134625" y="1170432"/>
            <a:chExt cx="2737027" cy="4705882"/>
          </a:xfrm>
        </p:grpSpPr>
        <p:sp>
          <p:nvSpPr>
            <p:cNvPr id="29" name="TextBox 28"/>
            <p:cNvSpPr txBox="1"/>
            <p:nvPr/>
          </p:nvSpPr>
          <p:spPr>
            <a:xfrm>
              <a:off x="9134625" y="1170432"/>
              <a:ext cx="2737027" cy="320040"/>
            </a:xfrm>
            <a:prstGeom prst="rect">
              <a:avLst/>
            </a:prstGeom>
            <a:noFill/>
          </p:spPr>
          <p:txBody>
            <a:bodyPr wrap="none" lIns="0" rIns="0">
              <a:noAutofit/>
            </a:bodyPr>
            <a:lstStyle/>
            <a:p>
              <a:pPr algn="ctr"/>
              <a:r>
                <a:rPr sz="2000" b="1" i="0" dirty="0">
                  <a:solidFill>
                    <a:srgbClr val="0B5E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WEEKS 7–8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134625" y="2026346"/>
              <a:ext cx="2737027" cy="3849968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3970">
              <a:solidFill>
                <a:srgbClr val="D8DC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335793" y="2080864"/>
              <a:ext cx="1115568" cy="365760"/>
            </a:xfrm>
            <a:prstGeom prst="roundRect">
              <a:avLst>
                <a:gd name="adj" fmla="val 50000"/>
              </a:avLst>
            </a:prstGeom>
            <a:solidFill>
              <a:srgbClr val="F1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sz="1400" b="1">
                  <a:solidFill>
                    <a:srgbClr val="8A93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PLANNED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11167564" y="2062576"/>
              <a:ext cx="502920" cy="502920"/>
            </a:xfrm>
            <a:prstGeom prst="ellipse">
              <a:avLst/>
            </a:prstGeom>
            <a:solidFill>
              <a:srgbClr val="0B5E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34625" y="5492266"/>
              <a:ext cx="2737027" cy="292608"/>
            </a:xfrm>
            <a:prstGeom prst="rect">
              <a:avLst/>
            </a:prstGeom>
            <a:noFill/>
          </p:spPr>
          <p:txBody>
            <a:bodyPr wrap="none" lIns="0" rIns="0">
              <a:noAutofit/>
            </a:bodyPr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C3DD80-0FA2-0112-AED0-EDC49555681B}"/>
                </a:ext>
              </a:extLst>
            </p:cNvPr>
            <p:cNvSpPr txBox="1"/>
            <p:nvPr/>
          </p:nvSpPr>
          <p:spPr>
            <a:xfrm>
              <a:off x="9266254" y="2637109"/>
              <a:ext cx="2473769" cy="868680"/>
            </a:xfrm>
            <a:prstGeom prst="rect">
              <a:avLst/>
            </a:prstGeom>
            <a:noFill/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b="1" dirty="0">
                  <a:solidFill>
                    <a:srgbClr val="1B1F2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2D Patterned-Layer Validation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9FF71D6-F528-CBB6-E57D-9A6C3BED3169}"/>
                </a:ext>
              </a:extLst>
            </p:cNvPr>
            <p:cNvSpPr txBox="1"/>
            <p:nvPr/>
          </p:nvSpPr>
          <p:spPr>
            <a:xfrm>
              <a:off x="9266254" y="3373968"/>
              <a:ext cx="2473769" cy="2437825"/>
            </a:xfrm>
            <a:prstGeom prst="rect">
              <a:avLst/>
            </a:prstGeom>
            <a:noFill/>
          </p:spPr>
          <p:txBody>
            <a:bodyPr wrap="square" lIns="0" rIns="0">
              <a:noAutofit/>
            </a:bodyPr>
            <a:lstStyle/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lang="en-US"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Write script for making Via, Pillar structure in Python</a:t>
              </a:r>
            </a:p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lang="en-US"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Cross-check vs. Commercial RCWA</a:t>
              </a:r>
            </a:p>
            <a:p>
              <a:pPr marL="228600" indent="-228600">
                <a:lnSpc>
                  <a:spcPct val="105000"/>
                </a:lnSpc>
                <a:spcAft>
                  <a:spcPts val="1100"/>
                </a:spcAft>
                <a:buClr>
                  <a:srgbClr val="0F9ED5"/>
                </a:buClr>
                <a:buFont typeface="Arial"/>
                <a:buChar char="●"/>
              </a:pPr>
              <a:r>
                <a:rPr lang="en-US" sz="1600" dirty="0">
                  <a:solidFill>
                    <a:srgbClr val="3A40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Improve complexity and robustness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E36DF6-3F0A-541C-CAFF-EC37902E9083}"/>
              </a:ext>
            </a:extLst>
          </p:cNvPr>
          <p:cNvGrpSpPr/>
          <p:nvPr/>
        </p:nvGrpSpPr>
        <p:grpSpPr>
          <a:xfrm>
            <a:off x="6190372" y="980655"/>
            <a:ext cx="2989973" cy="4705882"/>
            <a:chOff x="6144652" y="980655"/>
            <a:chExt cx="2989973" cy="4705882"/>
          </a:xfrm>
        </p:grpSpPr>
        <p:sp>
          <p:nvSpPr>
            <p:cNvPr id="58" name="Rounded Rectangle 14"/>
            <p:cNvSpPr/>
            <p:nvPr/>
          </p:nvSpPr>
          <p:spPr>
            <a:xfrm>
              <a:off x="6150594" y="1836569"/>
              <a:ext cx="2737027" cy="3849968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25400">
              <a:solidFill>
                <a:srgbClr val="0B5E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EBE2FDC-3AD4-B802-05AB-FC238E8460D6}"/>
                </a:ext>
              </a:extLst>
            </p:cNvPr>
            <p:cNvGrpSpPr/>
            <p:nvPr/>
          </p:nvGrpSpPr>
          <p:grpSpPr>
            <a:xfrm>
              <a:off x="6144652" y="980655"/>
              <a:ext cx="2989973" cy="4614442"/>
              <a:chOff x="6144652" y="980655"/>
              <a:chExt cx="2989973" cy="461444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C972242-A302-68BE-5394-7E9364BBB181}"/>
                  </a:ext>
                </a:extLst>
              </p:cNvPr>
              <p:cNvGrpSpPr/>
              <p:nvPr/>
            </p:nvGrpSpPr>
            <p:grpSpPr>
              <a:xfrm>
                <a:off x="6144652" y="980655"/>
                <a:ext cx="2989973" cy="4614442"/>
                <a:chOff x="6144652" y="980655"/>
                <a:chExt cx="2989973" cy="461444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4D90964B-CB1D-1EA2-0C80-DBD45C2F4488}"/>
                    </a:ext>
                  </a:extLst>
                </p:cNvPr>
                <p:cNvGrpSpPr/>
                <p:nvPr/>
              </p:nvGrpSpPr>
              <p:grpSpPr>
                <a:xfrm>
                  <a:off x="6196430" y="980655"/>
                  <a:ext cx="2938195" cy="4614442"/>
                  <a:chOff x="6196430" y="1170432"/>
                  <a:chExt cx="2938195" cy="4614442"/>
                </a:xfrm>
              </p:grpSpPr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6196430" y="1170432"/>
                    <a:ext cx="2737027" cy="320040"/>
                  </a:xfrm>
                  <a:prstGeom prst="rect">
                    <a:avLst/>
                  </a:prstGeom>
                  <a:noFill/>
                </p:spPr>
                <p:txBody>
                  <a:bodyPr wrap="none" lIns="0" rIns="0">
                    <a:noAutofit/>
                  </a:bodyPr>
                  <a:lstStyle/>
                  <a:p>
                    <a:pPr algn="ctr"/>
                    <a:r>
                      <a:rPr sz="2000" b="1" i="0" dirty="0">
                        <a:solidFill>
                          <a:srgbClr val="0B5E8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WEEKS 5–6</a:t>
                    </a:r>
                  </a:p>
                </p:txBody>
              </p:sp>
              <p:sp>
                <p:nvSpPr>
                  <p:cNvPr id="25" name="Oval 24"/>
                  <p:cNvSpPr/>
                  <p:nvPr/>
                </p:nvSpPr>
                <p:spPr>
                  <a:xfrm>
                    <a:off x="8229369" y="2062576"/>
                    <a:ext cx="502920" cy="502920"/>
                  </a:xfrm>
                  <a:prstGeom prst="ellipse">
                    <a:avLst/>
                  </a:prstGeom>
                  <a:solidFill>
                    <a:srgbClr val="0B5E8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>
                    <a:noAutofit/>
                  </a:bodyPr>
                  <a:lstStyle/>
                  <a:p>
                    <a:pPr algn="ctr"/>
                    <a:r>
                      <a:rPr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6268208" y="2610190"/>
                    <a:ext cx="2473769" cy="868680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>
                    <a:no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en-US" b="1" dirty="0">
                        <a:solidFill>
                          <a:srgbClr val="1B1F2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Validation for Trench structure</a:t>
                    </a: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6268208" y="3347049"/>
                    <a:ext cx="2473769" cy="243782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>
                    <a:noAutofit/>
                  </a:bodyPr>
                  <a:lstStyle/>
                  <a:p>
                    <a:pPr marL="228600" indent="-228600">
                      <a:lnSpc>
                        <a:spcPct val="105000"/>
                      </a:lnSpc>
                      <a:spcAft>
                        <a:spcPts val="1100"/>
                      </a:spcAft>
                      <a:buClr>
                        <a:srgbClr val="0F9ED5"/>
                      </a:buClr>
                      <a:buFont typeface="Arial"/>
                      <a:buChar char="●"/>
                    </a:pPr>
                    <a:r>
                      <a:rPr lang="en-US" sz="1600" dirty="0">
                        <a:solidFill>
                          <a:srgbClr val="3A404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Write script for making trench structure in Python</a:t>
                    </a:r>
                  </a:p>
                  <a:p>
                    <a:pPr marL="228600" indent="-228600">
                      <a:lnSpc>
                        <a:spcPct val="105000"/>
                      </a:lnSpc>
                      <a:spcAft>
                        <a:spcPts val="1100"/>
                      </a:spcAft>
                      <a:buClr>
                        <a:srgbClr val="0F9ED5"/>
                      </a:buClr>
                      <a:buFont typeface="Arial"/>
                      <a:buChar char="●"/>
                    </a:pPr>
                    <a:r>
                      <a:rPr lang="en-US" sz="1600" dirty="0">
                        <a:solidFill>
                          <a:srgbClr val="3A404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Cross-check vs. Commercial RCWA</a:t>
                    </a:r>
                  </a:p>
                  <a:p>
                    <a:pPr marL="228600" indent="-228600">
                      <a:lnSpc>
                        <a:spcPct val="105000"/>
                      </a:lnSpc>
                      <a:spcAft>
                        <a:spcPts val="1100"/>
                      </a:spcAft>
                      <a:buClr>
                        <a:srgbClr val="0F9ED5"/>
                      </a:buClr>
                      <a:buFont typeface="Arial"/>
                      <a:buChar char="●"/>
                    </a:pPr>
                    <a:r>
                      <a:rPr lang="en-US" sz="1600" dirty="0">
                        <a:solidFill>
                          <a:srgbClr val="3A404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Improve Accuracy</a:t>
                    </a:r>
                  </a:p>
                </p:txBody>
              </p:sp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6196430" y="5492266"/>
                    <a:ext cx="2737027" cy="292608"/>
                  </a:xfrm>
                  <a:prstGeom prst="rect">
                    <a:avLst/>
                  </a:prstGeom>
                  <a:noFill/>
                </p:spPr>
                <p:txBody>
                  <a:bodyPr wrap="none" lIns="0" rIns="0">
                    <a:noAutofit/>
                  </a:bodyPr>
                  <a:lstStyle/>
                  <a:p>
                    <a:pPr algn="ctr"/>
                    <a:endParaRPr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" name="Chevron 38"/>
                  <p:cNvSpPr/>
                  <p:nvPr/>
                </p:nvSpPr>
                <p:spPr>
                  <a:xfrm>
                    <a:off x="8933457" y="3924070"/>
                    <a:ext cx="201168" cy="201168"/>
                  </a:xfrm>
                  <a:prstGeom prst="chevron">
                    <a:avLst>
                      <a:gd name="adj" fmla="val 55000"/>
                    </a:avLst>
                  </a:prstGeom>
                  <a:solidFill>
                    <a:srgbClr val="C3C9D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" name="Rounded Rectangle 13"/>
                <p:cNvSpPr/>
                <p:nvPr/>
              </p:nvSpPr>
              <p:spPr>
                <a:xfrm>
                  <a:off x="6144652" y="1364531"/>
                  <a:ext cx="2737027" cy="40820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B5E8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/>
                  <a:r>
                    <a:rPr sz="16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TODAY</a:t>
                  </a:r>
                  <a:r>
                    <a:rPr lang="en-US" sz="16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  <a:r>
                    <a:rPr sz="16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AUG </a:t>
                  </a:r>
                  <a:r>
                    <a:rPr lang="en-US" sz="16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24</a:t>
                  </a:r>
                  <a:endParaRPr sz="1600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" name="Rounded Rectangle 15"/>
              <p:cNvSpPr/>
              <p:nvPr/>
            </p:nvSpPr>
            <p:spPr>
              <a:xfrm>
                <a:off x="6268208" y="1895406"/>
                <a:ext cx="1517904" cy="365760"/>
              </a:xfrm>
              <a:prstGeom prst="roundRect">
                <a:avLst>
                  <a:gd name="adj" fmla="val 50000"/>
                </a:avLst>
              </a:prstGeom>
              <a:solidFill>
                <a:srgbClr val="FCEEE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/>
                <a:r>
                  <a:rPr sz="1400" b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PROGRESS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B0747B-2911-924D-6966-74AAF2FB1235}"/>
              </a:ext>
            </a:extLst>
          </p:cNvPr>
          <p:cNvGrpSpPr/>
          <p:nvPr/>
        </p:nvGrpSpPr>
        <p:grpSpPr>
          <a:xfrm>
            <a:off x="3224086" y="980655"/>
            <a:ext cx="2944912" cy="4704338"/>
            <a:chOff x="3224086" y="980655"/>
            <a:chExt cx="2944912" cy="4704338"/>
          </a:xfrm>
        </p:grpSpPr>
        <p:sp>
          <p:nvSpPr>
            <p:cNvPr id="59" name="Rounded Rectangle 22"/>
            <p:cNvSpPr/>
            <p:nvPr/>
          </p:nvSpPr>
          <p:spPr>
            <a:xfrm>
              <a:off x="3224086" y="1835025"/>
              <a:ext cx="2737027" cy="3849968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3970">
              <a:solidFill>
                <a:srgbClr val="D8DC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7F7C2DD-0448-577E-AB0B-2B651488186B}"/>
                </a:ext>
              </a:extLst>
            </p:cNvPr>
            <p:cNvGrpSpPr/>
            <p:nvPr/>
          </p:nvGrpSpPr>
          <p:grpSpPr>
            <a:xfrm>
              <a:off x="3258235" y="980655"/>
              <a:ext cx="2910763" cy="4614442"/>
              <a:chOff x="3258235" y="980655"/>
              <a:chExt cx="2910763" cy="461444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EFAE428-2BB6-C01D-8B40-3813AADE3D64}"/>
                  </a:ext>
                </a:extLst>
              </p:cNvPr>
              <p:cNvGrpSpPr/>
              <p:nvPr/>
            </p:nvGrpSpPr>
            <p:grpSpPr>
              <a:xfrm>
                <a:off x="3258235" y="980655"/>
                <a:ext cx="2910763" cy="4614442"/>
                <a:chOff x="3258235" y="1170432"/>
                <a:chExt cx="2910763" cy="4614442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3258235" y="1170432"/>
                  <a:ext cx="2737027" cy="320040"/>
                </a:xfrm>
                <a:prstGeom prst="rect">
                  <a:avLst/>
                </a:prstGeom>
                <a:noFill/>
              </p:spPr>
              <p:txBody>
                <a:bodyPr wrap="none" lIns="0" rIns="0">
                  <a:noAutofit/>
                </a:bodyPr>
                <a:lstStyle/>
                <a:p>
                  <a:pPr algn="ctr"/>
                  <a:r>
                    <a:rPr sz="2000" b="1" i="0" dirty="0">
                      <a:solidFill>
                        <a:srgbClr val="0B5E8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WEEKS 3–4</a:t>
                  </a:r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5291174" y="2062576"/>
                  <a:ext cx="502920" cy="502920"/>
                </a:xfrm>
                <a:prstGeom prst="ellipse">
                  <a:avLst/>
                </a:prstGeom>
                <a:solidFill>
                  <a:srgbClr val="0B5E8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/>
                  <a:r>
                    <a:rPr b="1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330013" y="2610190"/>
                  <a:ext cx="2473769" cy="676474"/>
                </a:xfrm>
                <a:prstGeom prst="rect">
                  <a:avLst/>
                </a:prstGeom>
                <a:noFill/>
              </p:spPr>
              <p:txBody>
                <a:bodyPr wrap="square" lIns="0" rIns="0">
                  <a:noAutofit/>
                </a:bodyPr>
                <a:lstStyle/>
                <a:p>
                  <a:pPr algn="ctr">
                    <a:lnSpc>
                      <a:spcPct val="105000"/>
                    </a:lnSpc>
                  </a:pPr>
                  <a:r>
                    <a:rPr lang="en-US" b="1" dirty="0">
                      <a:solidFill>
                        <a:srgbClr val="1B1F24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Adding More Flexibility of Solver</a:t>
                  </a:r>
                  <a:endParaRPr b="1" dirty="0">
                    <a:solidFill>
                      <a:srgbClr val="1B1F2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3330013" y="3347050"/>
                  <a:ext cx="2473769" cy="2437824"/>
                </a:xfrm>
                <a:prstGeom prst="rect">
                  <a:avLst/>
                </a:prstGeom>
                <a:noFill/>
              </p:spPr>
              <p:txBody>
                <a:bodyPr wrap="square" lIns="0" rIns="0">
                  <a:noAutofit/>
                </a:bodyPr>
                <a:lstStyle/>
                <a:p>
                  <a:pPr marL="228600" indent="-228600">
                    <a:lnSpc>
                      <a:spcPct val="105000"/>
                    </a:lnSpc>
                    <a:spcAft>
                      <a:spcPts val="1100"/>
                    </a:spcAft>
                    <a:buClr>
                      <a:srgbClr val="0F9ED5"/>
                    </a:buClr>
                    <a:buFont typeface="Arial"/>
                    <a:buChar char="●"/>
                  </a:pPr>
                  <a:r>
                    <a:rPr lang="en-US" sz="1600" dirty="0">
                      <a:solidFill>
                        <a:srgbClr val="3A4048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Applied Azimuth Angle for  Sample Surface</a:t>
                  </a:r>
                </a:p>
                <a:p>
                  <a:pPr marL="228600" indent="-228600">
                    <a:lnSpc>
                      <a:spcPct val="105000"/>
                    </a:lnSpc>
                    <a:spcAft>
                      <a:spcPts val="1100"/>
                    </a:spcAft>
                    <a:buClr>
                      <a:srgbClr val="0F9ED5"/>
                    </a:buClr>
                    <a:buFont typeface="Arial"/>
                    <a:buChar char="●"/>
                  </a:pPr>
                  <a:r>
                    <a:rPr lang="en-US" sz="1600" dirty="0">
                      <a:solidFill>
                        <a:srgbClr val="3A4048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Set Incident Light Polarization – Now only Linear Polarization</a:t>
                  </a:r>
                </a:p>
                <a:p>
                  <a:pPr marL="228600" indent="-228600">
                    <a:lnSpc>
                      <a:spcPct val="105000"/>
                    </a:lnSpc>
                    <a:spcAft>
                      <a:spcPts val="1100"/>
                    </a:spcAft>
                    <a:buClr>
                      <a:srgbClr val="0F9ED5"/>
                    </a:buClr>
                    <a:buFont typeface="Arial"/>
                    <a:buChar char="●"/>
                  </a:pPr>
                  <a:r>
                    <a:rPr lang="en-US" sz="1600" dirty="0">
                      <a:solidFill>
                        <a:srgbClr val="3A4048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Validate with KLA Solver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3258235" y="5492266"/>
                  <a:ext cx="2737027" cy="292608"/>
                </a:xfrm>
                <a:prstGeom prst="rect">
                  <a:avLst/>
                </a:prstGeom>
                <a:noFill/>
              </p:spPr>
              <p:txBody>
                <a:bodyPr wrap="none" lIns="0" rIns="0">
                  <a:noAutofit/>
                </a:bodyPr>
                <a:lstStyle/>
                <a:p>
                  <a:pPr algn="ctr"/>
                  <a:endParaRPr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Chevron 37"/>
                <p:cNvSpPr/>
                <p:nvPr/>
              </p:nvSpPr>
              <p:spPr>
                <a:xfrm>
                  <a:off x="5967830" y="3924070"/>
                  <a:ext cx="201168" cy="201168"/>
                </a:xfrm>
                <a:prstGeom prst="chevron">
                  <a:avLst>
                    <a:gd name="adj" fmla="val 55000"/>
                  </a:avLst>
                </a:prstGeom>
                <a:solidFill>
                  <a:srgbClr val="C3C9D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5" name="Rounded Rectangle 6">
                <a:extLst>
                  <a:ext uri="{FF2B5EF4-FFF2-40B4-BE49-F238E27FC236}">
                    <a16:creationId xmlns:a16="http://schemas.microsoft.com/office/drawing/2014/main" id="{725C98AC-1AF8-B13A-33BA-B8B3F7EC9463}"/>
                  </a:ext>
                </a:extLst>
              </p:cNvPr>
              <p:cNvSpPr/>
              <p:nvPr/>
            </p:nvSpPr>
            <p:spPr>
              <a:xfrm>
                <a:off x="3460889" y="1894723"/>
                <a:ext cx="813816" cy="365760"/>
              </a:xfrm>
              <a:prstGeom prst="roundRect">
                <a:avLst>
                  <a:gd name="adj" fmla="val 50000"/>
                </a:avLst>
              </a:prstGeom>
              <a:solidFill>
                <a:srgbClr val="E7F7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/>
                <a:r>
                  <a:rPr sz="1400" b="1" dirty="0">
                    <a:solidFill>
                      <a:srgbClr val="1AA34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834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D7372-604A-C9F4-E010-192B75904C91}"/>
              </a:ext>
            </a:extLst>
          </p:cNvPr>
          <p:cNvSpPr txBox="1"/>
          <p:nvPr/>
        </p:nvSpPr>
        <p:spPr>
          <a:xfrm>
            <a:off x="4285312" y="2921168"/>
            <a:ext cx="36213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6794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35A5F-7A69-BD7D-641E-F4FEBF58CE59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3AB4AF0-FECB-B74B-6592-8E4DF80D6038}"/>
              </a:ext>
            </a:extLst>
          </p:cNvPr>
          <p:cNvGrpSpPr/>
          <p:nvPr/>
        </p:nvGrpSpPr>
        <p:grpSpPr>
          <a:xfrm>
            <a:off x="0" y="1142137"/>
            <a:ext cx="4505363" cy="4267363"/>
            <a:chOff x="7062837" y="1722991"/>
            <a:chExt cx="4505363" cy="426736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FB48B3F-E16D-C49B-4CC3-B8B354C9B221}"/>
                </a:ext>
              </a:extLst>
            </p:cNvPr>
            <p:cNvSpPr/>
            <p:nvPr/>
          </p:nvSpPr>
          <p:spPr>
            <a:xfrm rot="21337572">
              <a:off x="8627924" y="4477141"/>
              <a:ext cx="2940276" cy="1513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isometricOffAxis2Top"/>
              <a:lightRig rig="morning" dir="t">
                <a:rot lat="0" lon="0" rev="1200000"/>
              </a:lightRig>
            </a:scene3d>
            <a:sp3d prstMaterial="dkEdge">
              <a:bevelT w="0" h="469900"/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B2D6B60-05E3-5CE8-342F-D9532988A1A7}"/>
                </a:ext>
              </a:extLst>
            </p:cNvPr>
            <p:cNvSpPr/>
            <p:nvPr/>
          </p:nvSpPr>
          <p:spPr>
            <a:xfrm rot="21337572">
              <a:off x="8606527" y="4202025"/>
              <a:ext cx="2940276" cy="1513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isometricOffAxis2Top"/>
              <a:lightRig rig="freezing" dir="t"/>
            </a:scene3d>
            <a:sp3d prstMaterial="dkEdge">
              <a:bevelT w="0" h="298450"/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91ABC9E-F602-127C-057A-EA6B82FFF236}"/>
                </a:ext>
              </a:extLst>
            </p:cNvPr>
            <p:cNvSpPr/>
            <p:nvPr/>
          </p:nvSpPr>
          <p:spPr>
            <a:xfrm rot="21337572">
              <a:off x="8577610" y="3828908"/>
              <a:ext cx="2940276" cy="1513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isometricOffAxis2Top"/>
              <a:lightRig rig="sunset" dir="t">
                <a:rot lat="0" lon="0" rev="6000000"/>
              </a:lightRig>
            </a:scene3d>
            <a:sp3d prstMaterial="dkEdge">
              <a:bevelT w="0" h="393700"/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BF644DB-BFAC-AE96-C1DA-796C41FEC976}"/>
                </a:ext>
              </a:extLst>
            </p:cNvPr>
            <p:cNvCxnSpPr>
              <a:cxnSpLocks/>
            </p:cNvCxnSpPr>
            <p:nvPr/>
          </p:nvCxnSpPr>
          <p:spPr>
            <a:xfrm>
              <a:off x="8380389" y="5395539"/>
              <a:ext cx="35292" cy="4296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F32BE11-AB6A-3978-6061-7C782FBA23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8674" y="5599645"/>
              <a:ext cx="393248" cy="3327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CD9FE3-CACC-55AB-00BF-C1C5B1706398}"/>
                </a:ext>
              </a:extLst>
            </p:cNvPr>
            <p:cNvSpPr txBox="1"/>
            <p:nvPr/>
          </p:nvSpPr>
          <p:spPr>
            <a:xfrm>
              <a:off x="7220895" y="5440992"/>
              <a:ext cx="8370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Infinite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2D59AA-E100-115A-9C36-85136129C1F8}"/>
                </a:ext>
              </a:extLst>
            </p:cNvPr>
            <p:cNvCxnSpPr>
              <a:cxnSpLocks/>
            </p:cNvCxnSpPr>
            <p:nvPr/>
          </p:nvCxnSpPr>
          <p:spPr>
            <a:xfrm>
              <a:off x="8377058" y="5101309"/>
              <a:ext cx="16603" cy="2867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0E60D65-A443-21EF-EE59-6AC1D3573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7141" y="5254480"/>
              <a:ext cx="376626" cy="1510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2E82B6C-9085-2271-F518-3B37BBD02A06}"/>
                    </a:ext>
                  </a:extLst>
                </p:cNvPr>
                <p:cNvSpPr txBox="1"/>
                <p:nvPr/>
              </p:nvSpPr>
              <p:spPr>
                <a:xfrm>
                  <a:off x="7108688" y="5057970"/>
                  <a:ext cx="9617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500 n</a:t>
                  </a: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</m:oMath>
                  </a14:m>
                  <a:endPara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2E82B6C-9085-2271-F518-3B37BBD02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8688" y="5057970"/>
                  <a:ext cx="961772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3822"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6C3CBF6-D4CE-6922-CDF6-4031A1F92C6E}"/>
                    </a:ext>
                  </a:extLst>
                </p:cNvPr>
                <p:cNvSpPr txBox="1"/>
                <p:nvPr/>
              </p:nvSpPr>
              <p:spPr>
                <a:xfrm rot="233278">
                  <a:off x="8596203" y="5070676"/>
                  <a:ext cx="7022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6C3CBF6-D4CE-6922-CDF6-4031A1F92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3278">
                  <a:off x="8596203" y="5070676"/>
                  <a:ext cx="70224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7500" t="-7246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243548-D7B7-A7B4-DE08-5BE9A26D9EB0}"/>
                </a:ext>
              </a:extLst>
            </p:cNvPr>
            <p:cNvSpPr txBox="1"/>
            <p:nvPr/>
          </p:nvSpPr>
          <p:spPr>
            <a:xfrm rot="233278">
              <a:off x="8580961" y="5448249"/>
              <a:ext cx="48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9CEC6C-4E5D-6DD5-456C-6A7FD8C587C7}"/>
                </a:ext>
              </a:extLst>
            </p:cNvPr>
            <p:cNvSpPr txBox="1"/>
            <p:nvPr/>
          </p:nvSpPr>
          <p:spPr>
            <a:xfrm rot="233278">
              <a:off x="8619348" y="4761935"/>
              <a:ext cx="4810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5C3DD67-4A25-4DA7-B2B3-22146F054FDB}"/>
                </a:ext>
              </a:extLst>
            </p:cNvPr>
            <p:cNvCxnSpPr>
              <a:cxnSpLocks/>
            </p:cNvCxnSpPr>
            <p:nvPr/>
          </p:nvCxnSpPr>
          <p:spPr>
            <a:xfrm>
              <a:off x="8355608" y="4732386"/>
              <a:ext cx="24781" cy="367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3708C2B-F3AB-AEBA-9626-2417652DF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8442" y="4916345"/>
              <a:ext cx="415324" cy="465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021129D-072D-91DE-3B90-62619B78F347}"/>
                    </a:ext>
                  </a:extLst>
                </p:cNvPr>
                <p:cNvSpPr txBox="1"/>
                <p:nvPr/>
              </p:nvSpPr>
              <p:spPr>
                <a:xfrm>
                  <a:off x="7234439" y="4715898"/>
                  <a:ext cx="9213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n</a:t>
                  </a: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</m:oMath>
                  </a14:m>
                  <a:endPara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021129D-072D-91DE-3B90-62619B78F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439" y="4715898"/>
                  <a:ext cx="921367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3311"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022B0FB-D5EF-4E31-397C-206C89EDF12B}"/>
                </a:ext>
              </a:extLst>
            </p:cNvPr>
            <p:cNvSpPr/>
            <p:nvPr/>
          </p:nvSpPr>
          <p:spPr>
            <a:xfrm rot="21337572">
              <a:off x="8552209" y="3541786"/>
              <a:ext cx="2940276" cy="1513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isometricOffAxis2Top"/>
              <a:lightRig rig="sunrise" dir="t">
                <a:rot lat="0" lon="0" rev="4200000"/>
              </a:lightRig>
            </a:scene3d>
            <a:sp3d prstMaterial="dkEdge">
              <a:bevelT w="0" h="298450"/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6B5F08F-C8EC-CEC8-F9A2-E2D0957B25E7}"/>
                </a:ext>
              </a:extLst>
            </p:cNvPr>
            <p:cNvCxnSpPr>
              <a:cxnSpLocks/>
            </p:cNvCxnSpPr>
            <p:nvPr/>
          </p:nvCxnSpPr>
          <p:spPr>
            <a:xfrm>
              <a:off x="8331207" y="4441070"/>
              <a:ext cx="16603" cy="2867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8E724D6-4575-EC3A-CFFE-6905639C0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2469" y="4594241"/>
              <a:ext cx="395447" cy="16405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9CC801-0470-BAEB-168F-4854EB677721}"/>
                    </a:ext>
                  </a:extLst>
                </p:cNvPr>
                <p:cNvSpPr txBox="1"/>
                <p:nvPr/>
              </p:nvSpPr>
              <p:spPr>
                <a:xfrm>
                  <a:off x="7062837" y="4397731"/>
                  <a:ext cx="9617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300 n</a:t>
                  </a: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</m:oMath>
                  </a14:m>
                  <a:endPara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9CC801-0470-BAEB-168F-4854EB677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837" y="4397731"/>
                  <a:ext cx="961772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165"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41DB12-A0C7-F4ED-6985-02C958B07AF9}"/>
                </a:ext>
              </a:extLst>
            </p:cNvPr>
            <p:cNvSpPr txBox="1"/>
            <p:nvPr/>
          </p:nvSpPr>
          <p:spPr>
            <a:xfrm rot="233278">
              <a:off x="8550352" y="4410437"/>
              <a:ext cx="7022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SiO</a:t>
              </a:r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A15AD42-9568-0613-8CE5-4EE255D64526}"/>
                </a:ext>
              </a:extLst>
            </p:cNvPr>
            <p:cNvSpPr/>
            <p:nvPr/>
          </p:nvSpPr>
          <p:spPr>
            <a:xfrm rot="21337572">
              <a:off x="8538114" y="3263816"/>
              <a:ext cx="2940276" cy="1513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isometricOffAxis2Top"/>
              <a:lightRig rig="freezing" dir="t"/>
            </a:scene3d>
            <a:sp3d prstMaterial="dkEdge">
              <a:bevelT w="0" h="298450"/>
              <a:extrusionClr>
                <a:schemeClr val="bg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B4A97FD-043B-D597-DDB3-CE4016BB5196}"/>
                </a:ext>
              </a:extLst>
            </p:cNvPr>
            <p:cNvCxnSpPr>
              <a:cxnSpLocks/>
            </p:cNvCxnSpPr>
            <p:nvPr/>
          </p:nvCxnSpPr>
          <p:spPr>
            <a:xfrm>
              <a:off x="8308645" y="4163100"/>
              <a:ext cx="16603" cy="2867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DA9FD22-1356-14F8-CC5A-86E0C29AFC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7471" y="4316271"/>
              <a:ext cx="387883" cy="13198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7763BC7-B726-2744-8D66-9F57B66F2CE3}"/>
                    </a:ext>
                  </a:extLst>
                </p:cNvPr>
                <p:cNvSpPr txBox="1"/>
                <p:nvPr/>
              </p:nvSpPr>
              <p:spPr>
                <a:xfrm>
                  <a:off x="7076128" y="4119761"/>
                  <a:ext cx="92591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200 n</a:t>
                  </a: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</m:oMath>
                  </a14:m>
                  <a:endPara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7763BC7-B726-2744-8D66-9F57B66F2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128" y="4119761"/>
                  <a:ext cx="925919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3289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666FB8A-D269-1952-4FCE-05A1B81CFC14}"/>
                    </a:ext>
                  </a:extLst>
                </p:cNvPr>
                <p:cNvSpPr txBox="1"/>
                <p:nvPr/>
              </p:nvSpPr>
              <p:spPr>
                <a:xfrm rot="233278">
                  <a:off x="8527790" y="4132467"/>
                  <a:ext cx="7022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666FB8A-D269-1952-4FCE-05A1B81CF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3278">
                  <a:off x="8527790" y="4132467"/>
                  <a:ext cx="70224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7500" t="-7143" b="-1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0F6577-6081-63F0-3878-A1CA25300384}"/>
                </a:ext>
              </a:extLst>
            </p:cNvPr>
            <p:cNvSpPr txBox="1"/>
            <p:nvPr/>
          </p:nvSpPr>
          <p:spPr>
            <a:xfrm>
              <a:off x="8369436" y="1876167"/>
              <a:ext cx="1578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 Incident</a:t>
              </a: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E784A293-4295-F0EE-251F-AFC89C76623E}"/>
                </a:ext>
              </a:extLst>
            </p:cNvPr>
            <p:cNvSpPr/>
            <p:nvPr/>
          </p:nvSpPr>
          <p:spPr>
            <a:xfrm>
              <a:off x="9802506" y="1722991"/>
              <a:ext cx="163369" cy="2352143"/>
            </a:xfrm>
            <a:prstGeom prst="downArrow">
              <a:avLst>
                <a:gd name="adj1" fmla="val 100000"/>
                <a:gd name="adj2" fmla="val 29020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3D23E18B-1F33-EEAD-C3D9-9E292A2D90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" r="161"/>
          <a:stretch/>
        </p:blipFill>
        <p:spPr>
          <a:xfrm>
            <a:off x="4784570" y="1002534"/>
            <a:ext cx="7394139" cy="463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0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35A5F-7A69-BD7D-641E-F4FEBF58CE59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E87DF6-EEA0-4BD8-28F4-D894AE1087A5}"/>
              </a:ext>
            </a:extLst>
          </p:cNvPr>
          <p:cNvGrpSpPr/>
          <p:nvPr/>
        </p:nvGrpSpPr>
        <p:grpSpPr>
          <a:xfrm>
            <a:off x="0" y="1063777"/>
            <a:ext cx="4505363" cy="4345723"/>
            <a:chOff x="0" y="1063777"/>
            <a:chExt cx="4505363" cy="434572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3AB4AF0-FECB-B74B-6592-8E4DF80D6038}"/>
                </a:ext>
              </a:extLst>
            </p:cNvPr>
            <p:cNvGrpSpPr/>
            <p:nvPr/>
          </p:nvGrpSpPr>
          <p:grpSpPr>
            <a:xfrm>
              <a:off x="0" y="1063777"/>
              <a:ext cx="4505363" cy="4345723"/>
              <a:chOff x="7062837" y="1644631"/>
              <a:chExt cx="4505363" cy="434572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B48B3F-E16D-C49B-4CC3-B8B354C9B221}"/>
                  </a:ext>
                </a:extLst>
              </p:cNvPr>
              <p:cNvSpPr/>
              <p:nvPr/>
            </p:nvSpPr>
            <p:spPr>
              <a:xfrm rot="21337572">
                <a:off x="8627924" y="4477141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morning" dir="t">
                  <a:rot lat="0" lon="0" rev="1200000"/>
                </a:lightRig>
              </a:scene3d>
              <a:sp3d prstMaterial="dkEdge">
                <a:bevelT w="0" h="4699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B2D6B60-05E3-5CE8-342F-D9532988A1A7}"/>
                  </a:ext>
                </a:extLst>
              </p:cNvPr>
              <p:cNvSpPr/>
              <p:nvPr/>
            </p:nvSpPr>
            <p:spPr>
              <a:xfrm rot="21337572">
                <a:off x="8606527" y="4202025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91ABC9E-F602-127C-057A-EA6B82FFF236}"/>
                  </a:ext>
                </a:extLst>
              </p:cNvPr>
              <p:cNvSpPr/>
              <p:nvPr/>
            </p:nvSpPr>
            <p:spPr>
              <a:xfrm rot="21337572">
                <a:off x="8577610" y="3828908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set" dir="t">
                  <a:rot lat="0" lon="0" rev="6000000"/>
                </a:lightRig>
              </a:scene3d>
              <a:sp3d prstMaterial="dkEdge">
                <a:bevelT w="0" h="3937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BF644DB-BFAC-AE96-C1DA-796C41FEC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0389" y="5395539"/>
                <a:ext cx="35292" cy="4296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F32BE11-AB6A-3978-6061-7C782FBA23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8674" y="5599645"/>
                <a:ext cx="393248" cy="33270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CD9FE3-CACC-55AB-00BF-C1C5B1706398}"/>
                  </a:ext>
                </a:extLst>
              </p:cNvPr>
              <p:cNvSpPr txBox="1"/>
              <p:nvPr/>
            </p:nvSpPr>
            <p:spPr>
              <a:xfrm>
                <a:off x="7220895" y="5440992"/>
                <a:ext cx="8370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Infinite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D2D59AA-E100-115A-9C36-85136129C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7058" y="5101309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0E60D65-A443-21EF-EE59-6AC1D35734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87141" y="5254480"/>
                <a:ext cx="376626" cy="1510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/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22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500" t="-7246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243548-D7B7-A7B4-DE08-5BE9A26D9EB0}"/>
                  </a:ext>
                </a:extLst>
              </p:cNvPr>
              <p:cNvSpPr txBox="1"/>
              <p:nvPr/>
            </p:nvSpPr>
            <p:spPr>
              <a:xfrm rot="233278">
                <a:off x="8580961" y="5448249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9CEC6C-4E5D-6DD5-456C-6A7FD8C587C7}"/>
                  </a:ext>
                </a:extLst>
              </p:cNvPr>
              <p:cNvSpPr txBox="1"/>
              <p:nvPr/>
            </p:nvSpPr>
            <p:spPr>
              <a:xfrm rot="233278">
                <a:off x="8619348" y="4761935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5C3DD67-4A25-4DA7-B2B3-22146F054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5608" y="4732386"/>
                <a:ext cx="24781" cy="3679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3708C2B-F3AB-AEBA-9626-2417652DF2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48442" y="4916345"/>
                <a:ext cx="415324" cy="465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/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311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22B0FB-D5EF-4E31-397C-206C89EDF12B}"/>
                  </a:ext>
                </a:extLst>
              </p:cNvPr>
              <p:cNvSpPr/>
              <p:nvPr/>
            </p:nvSpPr>
            <p:spPr>
              <a:xfrm rot="21337572">
                <a:off x="8552209" y="354178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rise" dir="t">
                  <a:rot lat="0" lon="0" rev="4200000"/>
                </a:lightRig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F6B5F08F-C8EC-CEC8-F9A2-E2D0957B25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1207" y="444107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8E724D6-4575-EC3A-CFFE-6905639C04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2469" y="4594241"/>
                <a:ext cx="395447" cy="16405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/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165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41DB12-A0C7-F4ED-6985-02C958B07AF9}"/>
                  </a:ext>
                </a:extLst>
              </p:cNvPr>
              <p:cNvSpPr txBox="1"/>
              <p:nvPr/>
            </p:nvSpPr>
            <p:spPr>
              <a:xfrm rot="233278">
                <a:off x="8550352" y="4410437"/>
                <a:ext cx="7022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SiO</a:t>
                </a:r>
                <a:endParaRPr 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A15AD42-9568-0613-8CE5-4EE255D64526}"/>
                  </a:ext>
                </a:extLst>
              </p:cNvPr>
              <p:cNvSpPr/>
              <p:nvPr/>
            </p:nvSpPr>
            <p:spPr>
              <a:xfrm rot="21337572">
                <a:off x="8538114" y="326381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4A97FD-043B-D597-DDB3-CE4016BB5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645" y="416310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DA9FD22-1356-14F8-CC5A-86E0C29AF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07471" y="4316271"/>
                <a:ext cx="387883" cy="13198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/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89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00" t="-7143" b="-1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0F6577-6081-63F0-3878-A1CA25300384}"/>
                  </a:ext>
                </a:extLst>
              </p:cNvPr>
              <p:cNvSpPr txBox="1"/>
              <p:nvPr/>
            </p:nvSpPr>
            <p:spPr>
              <a:xfrm>
                <a:off x="8371922" y="1644631"/>
                <a:ext cx="1578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Incident</a:t>
                </a:r>
              </a:p>
            </p:txBody>
          </p:sp>
          <p:sp>
            <p:nvSpPr>
              <p:cNvPr id="32" name="Arrow: Down 31">
                <a:extLst>
                  <a:ext uri="{FF2B5EF4-FFF2-40B4-BE49-F238E27FC236}">
                    <a16:creationId xmlns:a16="http://schemas.microsoft.com/office/drawing/2014/main" id="{E784A293-4295-F0EE-251F-AFC89C76623E}"/>
                  </a:ext>
                </a:extLst>
              </p:cNvPr>
              <p:cNvSpPr/>
              <p:nvPr/>
            </p:nvSpPr>
            <p:spPr>
              <a:xfrm rot="19272690">
                <a:off x="9080328" y="1908224"/>
                <a:ext cx="163369" cy="2352143"/>
              </a:xfrm>
              <a:prstGeom prst="downArrow">
                <a:avLst>
                  <a:gd name="adj1" fmla="val 100000"/>
                  <a:gd name="adj2" fmla="val 29020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A3761C4A-9977-2091-97AD-78C87D07D03F}"/>
                </a:ext>
              </a:extLst>
            </p:cNvPr>
            <p:cNvSpPr/>
            <p:nvPr/>
          </p:nvSpPr>
          <p:spPr>
            <a:xfrm rot="3825365">
              <a:off x="2628978" y="2534841"/>
              <a:ext cx="120797" cy="409201"/>
            </a:xfrm>
            <a:prstGeom prst="leftBracket">
              <a:avLst/>
            </a:prstGeom>
            <a:ln>
              <a:solidFill>
                <a:srgbClr val="FF3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/>
                <p:nvPr/>
              </p:nvSpPr>
              <p:spPr>
                <a:xfrm rot="21132144">
                  <a:off x="2338025" y="2319405"/>
                  <a:ext cx="6013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132144">
                  <a:off x="2338025" y="2319405"/>
                  <a:ext cx="60138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047B52-BD59-21B0-1CCE-4F280536507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2887620" y="1248443"/>
              <a:ext cx="0" cy="2262814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A17E690-4A2B-CE1A-203A-2877062CAF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" t="2347" r="2097" b="3153"/>
          <a:stretch/>
        </p:blipFill>
        <p:spPr>
          <a:xfrm>
            <a:off x="4790437" y="1248443"/>
            <a:ext cx="7367504" cy="452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7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35A5F-7A69-BD7D-641E-F4FEBF58CE59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E87DF6-EEA0-4BD8-28F4-D894AE1087A5}"/>
              </a:ext>
            </a:extLst>
          </p:cNvPr>
          <p:cNvGrpSpPr/>
          <p:nvPr/>
        </p:nvGrpSpPr>
        <p:grpSpPr>
          <a:xfrm>
            <a:off x="0" y="1248443"/>
            <a:ext cx="4505363" cy="4161057"/>
            <a:chOff x="0" y="1248443"/>
            <a:chExt cx="4505363" cy="416105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3AB4AF0-FECB-B74B-6592-8E4DF80D6038}"/>
                </a:ext>
              </a:extLst>
            </p:cNvPr>
            <p:cNvGrpSpPr/>
            <p:nvPr/>
          </p:nvGrpSpPr>
          <p:grpSpPr>
            <a:xfrm>
              <a:off x="0" y="2594950"/>
              <a:ext cx="4505363" cy="2814550"/>
              <a:chOff x="7062837" y="3175804"/>
              <a:chExt cx="4505363" cy="281455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B48B3F-E16D-C49B-4CC3-B8B354C9B221}"/>
                  </a:ext>
                </a:extLst>
              </p:cNvPr>
              <p:cNvSpPr/>
              <p:nvPr/>
            </p:nvSpPr>
            <p:spPr>
              <a:xfrm rot="21337572">
                <a:off x="8627924" y="4477141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morning" dir="t">
                  <a:rot lat="0" lon="0" rev="1200000"/>
                </a:lightRig>
              </a:scene3d>
              <a:sp3d prstMaterial="dkEdge">
                <a:bevelT w="0" h="4699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B2D6B60-05E3-5CE8-342F-D9532988A1A7}"/>
                  </a:ext>
                </a:extLst>
              </p:cNvPr>
              <p:cNvSpPr/>
              <p:nvPr/>
            </p:nvSpPr>
            <p:spPr>
              <a:xfrm rot="21337572">
                <a:off x="8606527" y="4202025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91ABC9E-F602-127C-057A-EA6B82FFF236}"/>
                  </a:ext>
                </a:extLst>
              </p:cNvPr>
              <p:cNvSpPr/>
              <p:nvPr/>
            </p:nvSpPr>
            <p:spPr>
              <a:xfrm rot="21337572">
                <a:off x="8577610" y="3828908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set" dir="t">
                  <a:rot lat="0" lon="0" rev="6000000"/>
                </a:lightRig>
              </a:scene3d>
              <a:sp3d prstMaterial="dkEdge">
                <a:bevelT w="0" h="3937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BF644DB-BFAC-AE96-C1DA-796C41FEC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0389" y="5395539"/>
                <a:ext cx="35292" cy="4296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F32BE11-AB6A-3978-6061-7C782FBA23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8674" y="5599645"/>
                <a:ext cx="393248" cy="33270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CD9FE3-CACC-55AB-00BF-C1C5B1706398}"/>
                  </a:ext>
                </a:extLst>
              </p:cNvPr>
              <p:cNvSpPr txBox="1"/>
              <p:nvPr/>
            </p:nvSpPr>
            <p:spPr>
              <a:xfrm>
                <a:off x="7220895" y="5440992"/>
                <a:ext cx="8370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Infinite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D2D59AA-E100-115A-9C36-85136129C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7058" y="5101309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0E60D65-A443-21EF-EE59-6AC1D35734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87141" y="5254480"/>
                <a:ext cx="376626" cy="1510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/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22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500" t="-7246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243548-D7B7-A7B4-DE08-5BE9A26D9EB0}"/>
                  </a:ext>
                </a:extLst>
              </p:cNvPr>
              <p:cNvSpPr txBox="1"/>
              <p:nvPr/>
            </p:nvSpPr>
            <p:spPr>
              <a:xfrm rot="233278">
                <a:off x="8580961" y="5448249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9CEC6C-4E5D-6DD5-456C-6A7FD8C587C7}"/>
                  </a:ext>
                </a:extLst>
              </p:cNvPr>
              <p:cNvSpPr txBox="1"/>
              <p:nvPr/>
            </p:nvSpPr>
            <p:spPr>
              <a:xfrm rot="233278">
                <a:off x="8619348" y="4761935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5C3DD67-4A25-4DA7-B2B3-22146F054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5608" y="4732386"/>
                <a:ext cx="24781" cy="3679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3708C2B-F3AB-AEBA-9626-2417652DF2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48442" y="4916345"/>
                <a:ext cx="415324" cy="465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/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311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22B0FB-D5EF-4E31-397C-206C89EDF12B}"/>
                  </a:ext>
                </a:extLst>
              </p:cNvPr>
              <p:cNvSpPr/>
              <p:nvPr/>
            </p:nvSpPr>
            <p:spPr>
              <a:xfrm rot="21337572">
                <a:off x="8552209" y="354178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rise" dir="t">
                  <a:rot lat="0" lon="0" rev="4200000"/>
                </a:lightRig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F6B5F08F-C8EC-CEC8-F9A2-E2D0957B25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1207" y="444107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8E724D6-4575-EC3A-CFFE-6905639C04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2469" y="4594241"/>
                <a:ext cx="395447" cy="16405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/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165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41DB12-A0C7-F4ED-6985-02C958B07AF9}"/>
                  </a:ext>
                </a:extLst>
              </p:cNvPr>
              <p:cNvSpPr txBox="1"/>
              <p:nvPr/>
            </p:nvSpPr>
            <p:spPr>
              <a:xfrm rot="233278">
                <a:off x="8550352" y="4410437"/>
                <a:ext cx="7022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SiO</a:t>
                </a:r>
                <a:endParaRPr 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A15AD42-9568-0613-8CE5-4EE255D64526}"/>
                  </a:ext>
                </a:extLst>
              </p:cNvPr>
              <p:cNvSpPr/>
              <p:nvPr/>
            </p:nvSpPr>
            <p:spPr>
              <a:xfrm rot="21337572">
                <a:off x="8538114" y="326381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4A97FD-043B-D597-DDB3-CE4016BB5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645" y="416310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DA9FD22-1356-14F8-CC5A-86E0C29AF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07471" y="4316271"/>
                <a:ext cx="387883" cy="13198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/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89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00" t="-7143" b="-1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0F6577-6081-63F0-3878-A1CA25300384}"/>
                  </a:ext>
                </a:extLst>
              </p:cNvPr>
              <p:cNvSpPr txBox="1"/>
              <p:nvPr/>
            </p:nvSpPr>
            <p:spPr>
              <a:xfrm>
                <a:off x="7249424" y="3175804"/>
                <a:ext cx="1578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Incident</a:t>
                </a:r>
              </a:p>
            </p:txBody>
          </p:sp>
          <p:sp>
            <p:nvSpPr>
              <p:cNvPr id="32" name="Arrow: Down 31">
                <a:extLst>
                  <a:ext uri="{FF2B5EF4-FFF2-40B4-BE49-F238E27FC236}">
                    <a16:creationId xmlns:a16="http://schemas.microsoft.com/office/drawing/2014/main" id="{E784A293-4295-F0EE-251F-AFC89C76623E}"/>
                  </a:ext>
                </a:extLst>
              </p:cNvPr>
              <p:cNvSpPr/>
              <p:nvPr/>
            </p:nvSpPr>
            <p:spPr>
              <a:xfrm rot="16742168">
                <a:off x="8682195" y="2704475"/>
                <a:ext cx="163369" cy="2352143"/>
              </a:xfrm>
              <a:prstGeom prst="downArrow">
                <a:avLst>
                  <a:gd name="adj1" fmla="val 100000"/>
                  <a:gd name="adj2" fmla="val 29020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A3761C4A-9977-2091-97AD-78C87D07D03F}"/>
                </a:ext>
              </a:extLst>
            </p:cNvPr>
            <p:cNvSpPr/>
            <p:nvPr/>
          </p:nvSpPr>
          <p:spPr>
            <a:xfrm rot="3825365">
              <a:off x="2584203" y="2974729"/>
              <a:ext cx="165514" cy="402459"/>
            </a:xfrm>
            <a:prstGeom prst="leftBracket">
              <a:avLst/>
            </a:prstGeom>
            <a:ln>
              <a:solidFill>
                <a:srgbClr val="FF3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/>
                <p:nvPr/>
              </p:nvSpPr>
              <p:spPr>
                <a:xfrm rot="21132144">
                  <a:off x="2184240" y="2826917"/>
                  <a:ext cx="6013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85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132144">
                  <a:off x="2184240" y="2826917"/>
                  <a:ext cx="60138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047B52-BD59-21B0-1CCE-4F2805365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7620" y="1248443"/>
              <a:ext cx="26444" cy="2262814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B286D73-C8AD-A132-3024-3423AEA822E2}"/>
                </a:ext>
              </a:extLst>
            </p:cNvPr>
            <p:cNvCxnSpPr>
              <a:cxnSpLocks/>
            </p:cNvCxnSpPr>
            <p:nvPr/>
          </p:nvCxnSpPr>
          <p:spPr>
            <a:xfrm>
              <a:off x="523462" y="3421897"/>
              <a:ext cx="2421953" cy="82257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5A96FF8-6927-76C6-A8C1-BE7F9B2D15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" t="2306" r="1620" b="2306"/>
          <a:stretch/>
        </p:blipFill>
        <p:spPr>
          <a:xfrm>
            <a:off x="4740955" y="1151465"/>
            <a:ext cx="7451045" cy="457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7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35A5F-7A69-BD7D-641E-F4FEBF58CE59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E87DF6-EEA0-4BD8-28F4-D894AE1087A5}"/>
              </a:ext>
            </a:extLst>
          </p:cNvPr>
          <p:cNvGrpSpPr/>
          <p:nvPr/>
        </p:nvGrpSpPr>
        <p:grpSpPr>
          <a:xfrm>
            <a:off x="0" y="1063777"/>
            <a:ext cx="4505363" cy="4345723"/>
            <a:chOff x="0" y="1063777"/>
            <a:chExt cx="4505363" cy="434572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3AB4AF0-FECB-B74B-6592-8E4DF80D6038}"/>
                </a:ext>
              </a:extLst>
            </p:cNvPr>
            <p:cNvGrpSpPr/>
            <p:nvPr/>
          </p:nvGrpSpPr>
          <p:grpSpPr>
            <a:xfrm>
              <a:off x="0" y="1063777"/>
              <a:ext cx="4505363" cy="4345723"/>
              <a:chOff x="7062837" y="1644631"/>
              <a:chExt cx="4505363" cy="434572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B48B3F-E16D-C49B-4CC3-B8B354C9B221}"/>
                  </a:ext>
                </a:extLst>
              </p:cNvPr>
              <p:cNvSpPr/>
              <p:nvPr/>
            </p:nvSpPr>
            <p:spPr>
              <a:xfrm rot="21337572">
                <a:off x="8627924" y="4477141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morning" dir="t">
                  <a:rot lat="0" lon="0" rev="1200000"/>
                </a:lightRig>
              </a:scene3d>
              <a:sp3d prstMaterial="dkEdge">
                <a:bevelT w="0" h="4699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B2D6B60-05E3-5CE8-342F-D9532988A1A7}"/>
                  </a:ext>
                </a:extLst>
              </p:cNvPr>
              <p:cNvSpPr/>
              <p:nvPr/>
            </p:nvSpPr>
            <p:spPr>
              <a:xfrm rot="21337572">
                <a:off x="8606527" y="4202025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91ABC9E-F602-127C-057A-EA6B82FFF236}"/>
                  </a:ext>
                </a:extLst>
              </p:cNvPr>
              <p:cNvSpPr/>
              <p:nvPr/>
            </p:nvSpPr>
            <p:spPr>
              <a:xfrm rot="21337572">
                <a:off x="8577610" y="3828908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set" dir="t">
                  <a:rot lat="0" lon="0" rev="6000000"/>
                </a:lightRig>
              </a:scene3d>
              <a:sp3d prstMaterial="dkEdge">
                <a:bevelT w="0" h="39370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BF644DB-BFAC-AE96-C1DA-796C41FEC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0389" y="5395539"/>
                <a:ext cx="35292" cy="429613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F32BE11-AB6A-3978-6061-7C782FBA23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8674" y="5599645"/>
                <a:ext cx="393248" cy="33270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CD9FE3-CACC-55AB-00BF-C1C5B1706398}"/>
                  </a:ext>
                </a:extLst>
              </p:cNvPr>
              <p:cNvSpPr txBox="1"/>
              <p:nvPr/>
            </p:nvSpPr>
            <p:spPr>
              <a:xfrm>
                <a:off x="7220895" y="5440992"/>
                <a:ext cx="8370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Infinite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D2D59AA-E100-115A-9C36-85136129C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7058" y="5101309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0E60D65-A443-21EF-EE59-6AC1D35734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87141" y="5254480"/>
                <a:ext cx="376626" cy="1510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/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2E82B6C-9085-2271-F518-3B37BBD02A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8688" y="5057970"/>
                    <a:ext cx="961772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22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6C3CBF6-D4CE-6922-CDF6-4031A1F92C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96203" y="5070676"/>
                    <a:ext cx="70224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500" t="-7246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243548-D7B7-A7B4-DE08-5BE9A26D9EB0}"/>
                  </a:ext>
                </a:extLst>
              </p:cNvPr>
              <p:cNvSpPr txBox="1"/>
              <p:nvPr/>
            </p:nvSpPr>
            <p:spPr>
              <a:xfrm rot="233278">
                <a:off x="8580961" y="5448249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9CEC6C-4E5D-6DD5-456C-6A7FD8C587C7}"/>
                  </a:ext>
                </a:extLst>
              </p:cNvPr>
              <p:cNvSpPr txBox="1"/>
              <p:nvPr/>
            </p:nvSpPr>
            <p:spPr>
              <a:xfrm rot="233278">
                <a:off x="8619348" y="4761935"/>
                <a:ext cx="48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5C3DD67-4A25-4DA7-B2B3-22146F054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5608" y="4732386"/>
                <a:ext cx="24781" cy="3679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3708C2B-F3AB-AEBA-9626-2417652DF2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48442" y="4916345"/>
                <a:ext cx="415324" cy="465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/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21129D-072D-91DE-3B90-62619B78F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4439" y="4715898"/>
                    <a:ext cx="921367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311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22B0FB-D5EF-4E31-397C-206C89EDF12B}"/>
                  </a:ext>
                </a:extLst>
              </p:cNvPr>
              <p:cNvSpPr/>
              <p:nvPr/>
            </p:nvSpPr>
            <p:spPr>
              <a:xfrm rot="21337572">
                <a:off x="8552209" y="354178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rise" dir="t">
                  <a:rot lat="0" lon="0" rev="4200000"/>
                </a:lightRig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F6B5F08F-C8EC-CEC8-F9A2-E2D0957B25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1207" y="444107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8E724D6-4575-EC3A-CFFE-6905639C04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2469" y="4594241"/>
                <a:ext cx="395447" cy="16405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/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D9CC801-0470-BAEB-168F-4854EB6777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2837" y="4397731"/>
                    <a:ext cx="961772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165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41DB12-A0C7-F4ED-6985-02C958B07AF9}"/>
                  </a:ext>
                </a:extLst>
              </p:cNvPr>
              <p:cNvSpPr txBox="1"/>
              <p:nvPr/>
            </p:nvSpPr>
            <p:spPr>
              <a:xfrm rot="233278">
                <a:off x="8550352" y="4410437"/>
                <a:ext cx="7022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SiO</a:t>
                </a:r>
                <a:endParaRPr 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A15AD42-9568-0613-8CE5-4EE255D64526}"/>
                  </a:ext>
                </a:extLst>
              </p:cNvPr>
              <p:cNvSpPr/>
              <p:nvPr/>
            </p:nvSpPr>
            <p:spPr>
              <a:xfrm rot="21337572">
                <a:off x="8538114" y="326381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freezing" dir="t"/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4A97FD-043B-D597-DDB3-CE4016BB5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645" y="416310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DA9FD22-1356-14F8-CC5A-86E0C29AFC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07471" y="4316271"/>
                <a:ext cx="387883" cy="13198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/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27763BC7-B726-2744-8D66-9F57B66F2C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6128" y="4119761"/>
                    <a:ext cx="92591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89" t="-5455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666FB8A-D269-1952-4FCE-05A1B81CFC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8527790" y="4132467"/>
                    <a:ext cx="70224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00" t="-7143" b="-1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0F6577-6081-63F0-3878-A1CA25300384}"/>
                  </a:ext>
                </a:extLst>
              </p:cNvPr>
              <p:cNvSpPr txBox="1"/>
              <p:nvPr/>
            </p:nvSpPr>
            <p:spPr>
              <a:xfrm>
                <a:off x="8371922" y="1644631"/>
                <a:ext cx="1578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Incident</a:t>
                </a:r>
              </a:p>
            </p:txBody>
          </p:sp>
          <p:sp>
            <p:nvSpPr>
              <p:cNvPr id="32" name="Arrow: Down 31">
                <a:extLst>
                  <a:ext uri="{FF2B5EF4-FFF2-40B4-BE49-F238E27FC236}">
                    <a16:creationId xmlns:a16="http://schemas.microsoft.com/office/drawing/2014/main" id="{E784A293-4295-F0EE-251F-AFC89C76623E}"/>
                  </a:ext>
                </a:extLst>
              </p:cNvPr>
              <p:cNvSpPr/>
              <p:nvPr/>
            </p:nvSpPr>
            <p:spPr>
              <a:xfrm rot="19272690">
                <a:off x="9080328" y="1908224"/>
                <a:ext cx="163369" cy="2352143"/>
              </a:xfrm>
              <a:prstGeom prst="downArrow">
                <a:avLst>
                  <a:gd name="adj1" fmla="val 100000"/>
                  <a:gd name="adj2" fmla="val 29020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A3761C4A-9977-2091-97AD-78C87D07D03F}"/>
                </a:ext>
              </a:extLst>
            </p:cNvPr>
            <p:cNvSpPr/>
            <p:nvPr/>
          </p:nvSpPr>
          <p:spPr>
            <a:xfrm rot="3825365">
              <a:off x="2628978" y="2534841"/>
              <a:ext cx="120797" cy="409201"/>
            </a:xfrm>
            <a:prstGeom prst="leftBracket">
              <a:avLst/>
            </a:prstGeom>
            <a:ln>
              <a:solidFill>
                <a:srgbClr val="FF3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/>
                <p:nvPr/>
              </p:nvSpPr>
              <p:spPr>
                <a:xfrm rot="21132144">
                  <a:off x="2338025" y="2319405"/>
                  <a:ext cx="6013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4D5E10D-10A9-1E08-89FC-AD20F8961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132144">
                  <a:off x="2338025" y="2319405"/>
                  <a:ext cx="60138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047B52-BD59-21B0-1CCE-4F280536507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2887620" y="1248443"/>
              <a:ext cx="0" cy="2262814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5CC6E13-B74E-C03B-9EBB-6548DFB376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" t="1973" r="1670" b="2678"/>
          <a:stretch/>
        </p:blipFill>
        <p:spPr>
          <a:xfrm>
            <a:off x="4836353" y="1063777"/>
            <a:ext cx="7355647" cy="45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6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E9DD7-AA37-487D-939A-DA6D9DD332F4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380580-2C2B-5571-E7BE-D88F19EA2187}"/>
              </a:ext>
            </a:extLst>
          </p:cNvPr>
          <p:cNvGrpSpPr/>
          <p:nvPr/>
        </p:nvGrpSpPr>
        <p:grpSpPr>
          <a:xfrm>
            <a:off x="388189" y="871267"/>
            <a:ext cx="10904651" cy="3380693"/>
            <a:chOff x="388189" y="871267"/>
            <a:chExt cx="10904651" cy="33806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6ACBF15-035D-A46E-4259-BFABE446AD90}"/>
                </a:ext>
              </a:extLst>
            </p:cNvPr>
            <p:cNvGrpSpPr/>
            <p:nvPr/>
          </p:nvGrpSpPr>
          <p:grpSpPr>
            <a:xfrm>
              <a:off x="388189" y="871267"/>
              <a:ext cx="9409948" cy="3037896"/>
              <a:chOff x="388189" y="871267"/>
              <a:chExt cx="9409948" cy="303789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E6B737-E89F-E1E2-59B3-15183891A778}"/>
                  </a:ext>
                </a:extLst>
              </p:cNvPr>
              <p:cNvSpPr txBox="1"/>
              <p:nvPr/>
            </p:nvSpPr>
            <p:spPr>
              <a:xfrm>
                <a:off x="388189" y="871267"/>
                <a:ext cx="9409948" cy="1687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rgbClr val="0B0B0B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Cross-validated against </a:t>
                </a:r>
                <a:r>
                  <a:rPr lang="en-US" sz="2400" b="0" i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independent</a:t>
                </a:r>
                <a:r>
                  <a:rPr lang="en-US" sz="2400" b="0" i="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oracles</a:t>
                </a:r>
                <a:r>
                  <a:rPr lang="en-US" sz="2400" b="0" i="0" dirty="0">
                    <a:solidFill>
                      <a:srgbClr val="0B0B0B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not just “trust us.”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rgbClr val="0B0B0B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own and can extend the exact math, not just the inputs.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0B0B0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 control of our setup 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46D692-DD4D-B4B6-202C-3C1237A389DA}"/>
                  </a:ext>
                </a:extLst>
              </p:cNvPr>
              <p:cNvSpPr txBox="1"/>
              <p:nvPr/>
            </p:nvSpPr>
            <p:spPr>
              <a:xfrm>
                <a:off x="2393863" y="2487171"/>
                <a:ext cx="6029728" cy="1421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use </a:t>
                </a:r>
                <a:r>
                  <a:rPr lang="en-US" sz="20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Material Layers and any Thickness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use </a:t>
                </a:r>
                <a:r>
                  <a:rPr lang="en-US" sz="20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Material as Substrate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</a:t>
                </a:r>
                <a:r>
                  <a:rPr lang="en-US" sz="20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 Incident Angle</a:t>
                </a:r>
              </a:p>
            </p:txBody>
          </p:sp>
        </p:grpSp>
        <p:pic>
          <p:nvPicPr>
            <p:cNvPr id="7" name="Picture 6" descr="icon_valida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1240" y="1051560"/>
              <a:ext cx="1371600" cy="1371600"/>
            </a:xfrm>
            <a:prstGeom prst="rect">
              <a:avLst/>
            </a:prstGeom>
          </p:spPr>
        </p:pic>
        <p:pic>
          <p:nvPicPr>
            <p:cNvPr id="8" name="Picture 7" descr="icon_contro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21240" y="2880360"/>
              <a:ext cx="1371600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35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42812-E1D7-0FA6-570A-22FB55ACD94C}"/>
              </a:ext>
            </a:extLst>
          </p:cNvPr>
          <p:cNvSpPr txBox="1"/>
          <p:nvPr/>
        </p:nvSpPr>
        <p:spPr>
          <a:xfrm>
            <a:off x="155276" y="0"/>
            <a:ext cx="2367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9F5220-93D9-30D7-62F4-C89265A3CDF8}"/>
              </a:ext>
            </a:extLst>
          </p:cNvPr>
          <p:cNvSpPr txBox="1"/>
          <p:nvPr/>
        </p:nvSpPr>
        <p:spPr>
          <a:xfrm>
            <a:off x="528333" y="1108161"/>
            <a:ext cx="4297667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Azimuth Angle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Incident Light Polarization  – Circular and Elliptical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 High range of Wavelength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Incident Angle and resolve remaining numerical issues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4605CE-812E-3CD9-3576-1C348D9CC109}"/>
              </a:ext>
            </a:extLst>
          </p:cNvPr>
          <p:cNvGrpSpPr/>
          <p:nvPr/>
        </p:nvGrpSpPr>
        <p:grpSpPr>
          <a:xfrm>
            <a:off x="6806027" y="1160724"/>
            <a:ext cx="4770640" cy="3906760"/>
            <a:chOff x="6806027" y="1160724"/>
            <a:chExt cx="4770640" cy="39067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40B92A3-D699-26CC-B6BB-5B110A8C2CA4}"/>
                </a:ext>
              </a:extLst>
            </p:cNvPr>
            <p:cNvGrpSpPr/>
            <p:nvPr/>
          </p:nvGrpSpPr>
          <p:grpSpPr>
            <a:xfrm>
              <a:off x="6806027" y="1160724"/>
              <a:ext cx="4770640" cy="3906760"/>
              <a:chOff x="5383627" y="1948124"/>
              <a:chExt cx="4770640" cy="390676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819BBD-3146-B114-6320-6E806ABC104E}"/>
                  </a:ext>
                </a:extLst>
              </p:cNvPr>
              <p:cNvSpPr txBox="1"/>
              <p:nvPr/>
            </p:nvSpPr>
            <p:spPr>
              <a:xfrm>
                <a:off x="5606445" y="1948124"/>
                <a:ext cx="15785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Incident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379C42B-A2B8-0652-CC18-4B9AF0FFC758}"/>
                  </a:ext>
                </a:extLst>
              </p:cNvPr>
              <p:cNvGrpSpPr/>
              <p:nvPr/>
            </p:nvGrpSpPr>
            <p:grpSpPr>
              <a:xfrm>
                <a:off x="5383627" y="3693438"/>
                <a:ext cx="4770640" cy="2161446"/>
                <a:chOff x="6580975" y="1839086"/>
                <a:chExt cx="4770640" cy="2161446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C1B62105-391F-792D-46D1-1EDB1CA2F854}"/>
                    </a:ext>
                  </a:extLst>
                </p:cNvPr>
                <p:cNvGrpSpPr/>
                <p:nvPr/>
              </p:nvGrpSpPr>
              <p:grpSpPr>
                <a:xfrm>
                  <a:off x="8361025" y="1839086"/>
                  <a:ext cx="2990590" cy="2161446"/>
                  <a:chOff x="7724221" y="1551941"/>
                  <a:chExt cx="2990590" cy="2161446"/>
                </a:xfrm>
              </p:grpSpPr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2DFB557-4E95-A852-72E5-F4FD3111B744}"/>
                      </a:ext>
                    </a:extLst>
                  </p:cNvPr>
                  <p:cNvSpPr/>
                  <p:nvPr/>
                </p:nvSpPr>
                <p:spPr>
                  <a:xfrm rot="21337572">
                    <a:off x="7774535" y="2200174"/>
                    <a:ext cx="2940276" cy="151321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  <a:scene3d>
                    <a:camera prst="isometricOffAxis2Top"/>
                    <a:lightRig rig="morning" dir="t">
                      <a:rot lat="0" lon="0" rev="1200000"/>
                    </a:lightRig>
                  </a:scene3d>
                  <a:sp3d prstMaterial="dkEdge">
                    <a:bevelT w="0" h="469900"/>
                    <a:extrusionClr>
                      <a:schemeClr val="bg1"/>
                    </a:extrusionClr>
                    <a:contourClr>
                      <a:schemeClr val="bg1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8750CB9D-A1EE-CB2F-E976-7436132D7D80}"/>
                      </a:ext>
                    </a:extLst>
                  </p:cNvPr>
                  <p:cNvSpPr/>
                  <p:nvPr/>
                </p:nvSpPr>
                <p:spPr>
                  <a:xfrm rot="21337572">
                    <a:off x="7753138" y="1925058"/>
                    <a:ext cx="2940276" cy="151321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  <a:scene3d>
                    <a:camera prst="isometricOffAxis2Top"/>
                    <a:lightRig rig="freezing" dir="t"/>
                  </a:scene3d>
                  <a:sp3d prstMaterial="dkEdge">
                    <a:bevelT w="0" h="298450"/>
                    <a:extrusionClr>
                      <a:schemeClr val="bg1"/>
                    </a:extrusionClr>
                    <a:contourClr>
                      <a:schemeClr val="bg1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712AD286-4849-918B-6963-8CD9F9AE5272}"/>
                      </a:ext>
                    </a:extLst>
                  </p:cNvPr>
                  <p:cNvSpPr/>
                  <p:nvPr/>
                </p:nvSpPr>
                <p:spPr>
                  <a:xfrm rot="21337572">
                    <a:off x="7724221" y="1551941"/>
                    <a:ext cx="2940276" cy="151321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  <a:scene3d>
                    <a:camera prst="isometricOffAxis2Top"/>
                    <a:lightRig rig="sunset" dir="t">
                      <a:rot lat="0" lon="0" rev="6000000"/>
                    </a:lightRig>
                  </a:scene3d>
                  <a:sp3d prstMaterial="dkEdge">
                    <a:bevelT w="0" h="393700"/>
                    <a:extrusionClr>
                      <a:schemeClr val="bg1"/>
                    </a:extrusionClr>
                    <a:contourClr>
                      <a:schemeClr val="bg1"/>
                    </a:contourClr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5BC2970E-E91A-CDD4-55EE-78A5E4255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55337" y="3405717"/>
                  <a:ext cx="35292" cy="429613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8126958B-CD71-7D52-0AD2-91CECCDA4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82167" y="3609823"/>
                  <a:ext cx="773170" cy="67814"/>
                </a:xfrm>
                <a:prstGeom prst="straightConnector1">
                  <a:avLst/>
                </a:prstGeom>
                <a:ln>
                  <a:prstDash val="sysDash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280892BD-D45D-2754-79AB-B626C89045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80975" y="3493505"/>
                      <a:ext cx="88197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14:m>
                        <m:oMath xmlns:m="http://schemas.openxmlformats.org/officeDocument/2006/math"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𝟎𝟎</m:t>
                          </m:r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µ</m:t>
                          </m:r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oMath>
                      </a14:m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80892BD-D45D-2754-79AB-B626C89045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80975" y="3493505"/>
                      <a:ext cx="881973" cy="33855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448" t="-5357" b="-2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7C0C38B-302A-C2AA-3294-8901690A4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52006" y="3111487"/>
                  <a:ext cx="16603" cy="28676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96B01432-0CA0-DF0D-1A79-CB058D906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300" y="3264658"/>
                  <a:ext cx="785415" cy="30205"/>
                </a:xfrm>
                <a:prstGeom prst="straightConnector1">
                  <a:avLst/>
                </a:prstGeom>
                <a:ln>
                  <a:prstDash val="sysDash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10DC04BF-CD8D-05CC-41D0-7B942F6DEF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9866" y="3110483"/>
                      <a:ext cx="75067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n</a:t>
                      </a:r>
                      <a14:m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oMath>
                      </a14:m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10DC04BF-CD8D-05CC-41D0-7B942F6DEF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79866" y="3110483"/>
                      <a:ext cx="750674" cy="33855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878" t="-5357" b="-2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F197DDAA-E53C-2A1C-5CB9-F6E181118231}"/>
                        </a:ext>
                      </a:extLst>
                    </p:cNvPr>
                    <p:cNvSpPr txBox="1"/>
                    <p:nvPr/>
                  </p:nvSpPr>
                  <p:spPr>
                    <a:xfrm rot="233278">
                      <a:off x="8371151" y="3080854"/>
                      <a:ext cx="70224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a14:m>
                      <a:endPara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F197DDAA-E53C-2A1C-5CB9-F6E1811182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33278">
                      <a:off x="8371151" y="3080854"/>
                      <a:ext cx="702242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7500" t="-7246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1B7A9580-F3E7-7B42-D874-0C14B70D1C01}"/>
                    </a:ext>
                  </a:extLst>
                </p:cNvPr>
                <p:cNvSpPr txBox="1"/>
                <p:nvPr/>
              </p:nvSpPr>
              <p:spPr>
                <a:xfrm rot="233278">
                  <a:off x="8355909" y="3458427"/>
                  <a:ext cx="4810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Ni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1A5AD7C-2B5C-D392-4F74-0FCEB38522EB}"/>
                    </a:ext>
                  </a:extLst>
                </p:cNvPr>
                <p:cNvSpPr txBox="1"/>
                <p:nvPr/>
              </p:nvSpPr>
              <p:spPr>
                <a:xfrm rot="233278">
                  <a:off x="8394296" y="2772113"/>
                  <a:ext cx="4810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</a:t>
                  </a:r>
                </a:p>
              </p:txBody>
            </p: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9AB804E7-54FC-5668-0E4F-3F93207ABB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30556" y="2742564"/>
                  <a:ext cx="24781" cy="367919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8FF27EE-6B78-B202-DCE1-1416C52E4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299" y="2926523"/>
                  <a:ext cx="785415" cy="30205"/>
                </a:xfrm>
                <a:prstGeom prst="straightConnector1">
                  <a:avLst/>
                </a:prstGeom>
                <a:ln>
                  <a:prstDash val="sysDash"/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87B2160E-7145-354B-7887-DA3977105E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94519" y="2768411"/>
                      <a:ext cx="92136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n</a:t>
                      </a:r>
                      <a14:m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oMath>
                      </a14:m>
                      <a:endPara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87B2160E-7145-354B-7887-DA3977105E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94519" y="2768411"/>
                      <a:ext cx="921367" cy="33855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974" t="-5357" b="-214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2225C4-3A50-74E9-60EF-6AA76B002459}"/>
                  </a:ext>
                </a:extLst>
              </p:cNvPr>
              <p:cNvSpPr/>
              <p:nvPr/>
            </p:nvSpPr>
            <p:spPr>
              <a:xfrm rot="21337572">
                <a:off x="7146743" y="3406316"/>
                <a:ext cx="2940276" cy="15132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scene3d>
                <a:camera prst="isometricOffAxis2Top"/>
                <a:lightRig rig="sunrise" dir="t">
                  <a:rot lat="0" lon="0" rev="4200000"/>
                </a:lightRig>
              </a:scene3d>
              <a:sp3d prstMaterial="dkEdge">
                <a:bevelT w="0" h="298450"/>
                <a:extrusionClr>
                  <a:schemeClr val="bg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F93A8C5-36C9-A1A2-B5AA-BBFC2BDFE1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8807" y="4305600"/>
                <a:ext cx="16603" cy="286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EFBA622-B5C3-B07B-B337-422C9D93F2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10101" y="4458771"/>
                <a:ext cx="785415" cy="30205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A7A7DDF-7500-616D-2738-1A80DB2A1A48}"/>
                      </a:ext>
                    </a:extLst>
                  </p:cNvPr>
                  <p:cNvSpPr txBox="1"/>
                  <p:nvPr/>
                </p:nvSpPr>
                <p:spPr>
                  <a:xfrm>
                    <a:off x="5436667" y="4304596"/>
                    <a:ext cx="75067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50 n</a:t>
                    </a:r>
                    <a14:m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oMath>
                    </a14:m>
                    <a:endParaRPr lang="en-US" sz="16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A7A7DDF-7500-616D-2738-1A80DB2A1A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36667" y="4304596"/>
                    <a:ext cx="750674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65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401D2B1-DAC7-482D-20C3-ABD7A98B2D2B}"/>
                      </a:ext>
                    </a:extLst>
                  </p:cNvPr>
                  <p:cNvSpPr txBox="1"/>
                  <p:nvPr/>
                </p:nvSpPr>
                <p:spPr>
                  <a:xfrm rot="233278">
                    <a:off x="7127952" y="4274967"/>
                    <a:ext cx="70224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Ti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endParaRPr lang="en-US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401D2B1-DAC7-482D-20C3-ABD7A98B2D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3278">
                    <a:off x="7127952" y="4274967"/>
                    <a:ext cx="70224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7500" t="-8696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Arrow: Down 34">
                <a:extLst>
                  <a:ext uri="{FF2B5EF4-FFF2-40B4-BE49-F238E27FC236}">
                    <a16:creationId xmlns:a16="http://schemas.microsoft.com/office/drawing/2014/main" id="{7F5EF087-5CCF-8B2B-63D9-AE8031D0BF07}"/>
                  </a:ext>
                </a:extLst>
              </p:cNvPr>
              <p:cNvSpPr/>
              <p:nvPr/>
            </p:nvSpPr>
            <p:spPr>
              <a:xfrm rot="19317411">
                <a:off x="7746105" y="1952953"/>
                <a:ext cx="163369" cy="2352143"/>
              </a:xfrm>
              <a:prstGeom prst="downArrow">
                <a:avLst>
                  <a:gd name="adj1" fmla="val 100000"/>
                  <a:gd name="adj2" fmla="val 29020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07A303-E6D1-5BC4-453B-E74CDAE51205}"/>
                </a:ext>
              </a:extLst>
            </p:cNvPr>
            <p:cNvCxnSpPr>
              <a:cxnSpLocks/>
            </p:cNvCxnSpPr>
            <p:nvPr/>
          </p:nvCxnSpPr>
          <p:spPr>
            <a:xfrm>
              <a:off x="9996945" y="1365074"/>
              <a:ext cx="0" cy="193156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487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7" y="224"/>
            <a:ext cx="12191207" cy="6857554"/>
          </a:xfrm>
          <a:prstGeom prst="rect">
            <a:avLst/>
          </a:prstGeom>
          <a:solidFill>
            <a:srgbClr val="0A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" y="2184040"/>
            <a:ext cx="2562060" cy="256206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0915" y="2649854"/>
            <a:ext cx="7424129" cy="246032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192725" y="5225769"/>
            <a:ext cx="42404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5634" y="2307483"/>
            <a:ext cx="3991166" cy="224303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T</a:t>
            </a:r>
            <a:r>
              <a:rPr lang="en-US" altLang="zh-TW" dirty="0"/>
              <a:t>hank you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248658" y="6582692"/>
            <a:ext cx="3942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Copyright © 2026 Chroma ATE Inc.</a:t>
            </a:r>
            <a:r>
              <a:rPr lang="zh-TW" altLang="en-US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All rights reserved.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598596"/>
      </p:ext>
    </p:extLst>
  </p:cSld>
  <p:clrMapOvr>
    <a:masterClrMapping/>
  </p:clrMapOvr>
  <p:transition>
    <p:pull dir="d"/>
  </p:transition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Chroma_5</Template>
  <TotalTime>2747</TotalTime>
  <Words>418</Words>
  <Application>Microsoft Office PowerPoint</Application>
  <PresentationFormat>Widescreen</PresentationFormat>
  <Paragraphs>131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新細明體</vt:lpstr>
      <vt:lpstr>Arial</vt:lpstr>
      <vt:lpstr>Calibri</vt:lpstr>
      <vt:lpstr>Cambria Math</vt:lpstr>
      <vt:lpstr>Times New Roman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sougata.bhunia</dc:creator>
  <cp:lastModifiedBy>sougata.bhunia</cp:lastModifiedBy>
  <cp:revision>34</cp:revision>
  <dcterms:created xsi:type="dcterms:W3CDTF">2026-07-28T05:23:09Z</dcterms:created>
  <dcterms:modified xsi:type="dcterms:W3CDTF">2026-08-17T03:07:29Z</dcterms:modified>
</cp:coreProperties>
</file>